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6800" y="2489200"/>
            <a:ext cx="889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2026년 ICT기반 외국인환자 사전상담·사후관리 지원 사업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946400"/>
            <a:ext cx="9652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5200">
                <a:solidFill>
                  <a:srgbClr val="F5F5F5"/>
                </a:solidFill>
                <a:latin typeface="에스코어 드림 8 Heavy"/>
                <a:ea typeface="에스코어 드림 8 Heavy"/>
                <a:cs typeface="에스코어 드림 8 Heavy"/>
              </a:rPr>
              <a:t>중간보고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4368800"/>
            <a:ext cx="1219200" cy="2032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4673600"/>
            <a:ext cx="914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 암환자 대상 ICT 기반 사전상담·사후관리 통합 의료연계 서비스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healwith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5892800"/>
            <a:ext cx="965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주관 본로이   ·   참여 면력한방병원 · 신촌면력한방병원   ·   2026. 09.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73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추진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현황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총괄</a:t>
            </a:r>
            <a:endParaRPr sz="25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800"/>
              </a:spcBef>
            </a:pPr>
            <a:r>
              <a:rPr lang="ko-KR" altLang="en-US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서비스는 개발을 완료하였고</a:t>
            </a:r>
            <a:r>
              <a:rPr lang="en-US" altLang="ko-KR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, </a:t>
            </a:r>
            <a:r>
              <a:rPr lang="ko-KR" altLang="en-US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 유치만 남았습니다</a:t>
            </a:r>
            <a:r>
              <a:rPr lang="en-US" altLang="ko-KR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  <a:endParaRPr sz="12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3622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dirty="0" err="1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플랫폼</a:t>
            </a:r>
            <a:endParaRPr sz="1250" dirty="0">
              <a:solidFill>
                <a:srgbClr val="888888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1800" y="2286000"/>
            <a:ext cx="4191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6800" y="2413000"/>
            <a:ext cx="3708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6개 언어 · 원격협진 · AI 상담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800" y="30226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800" y="33020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파트너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225800"/>
            <a:ext cx="4191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23</a:t>
            </a:r>
            <a:r>
              <a:rPr lang="ko-KR" altLang="en-US" sz="21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개사 미팅 </a:t>
            </a:r>
            <a:r>
              <a:rPr lang="en-US" altLang="ko-KR" sz="21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/ 10</a:t>
            </a:r>
            <a:r>
              <a:rPr lang="ko-KR" altLang="en-US" sz="21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개사 계약</a:t>
            </a:r>
            <a:endParaRPr sz="21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16800" y="3352800"/>
            <a:ext cx="3708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 · 러시아 · 키르기스 · 인도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6800" y="39624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6800" y="42418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사전상담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165600"/>
            <a:ext cx="4191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29건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6800" y="4292600"/>
            <a:ext cx="3708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 6명 · 목표 120건의 24%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" y="49022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6800" y="51816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유치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105400"/>
            <a:ext cx="4191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0건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6800" y="5232400"/>
            <a:ext cx="3708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목표 12건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6248400"/>
            <a:ext cx="904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2026. 08. 31.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기준</a:t>
            </a:r>
            <a:endParaRPr sz="900" dirty="0">
              <a:solidFill>
                <a:srgbClr val="888888"/>
              </a:solidFill>
              <a:latin typeface="에스코어 드림 3 Light"/>
              <a:ea typeface="에스코어 드림 3 Light"/>
              <a:cs typeface="에스코어 드림 3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73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성과지표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달성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현황</a:t>
            </a:r>
            <a:endParaRPr sz="25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800"/>
              </a:spcBef>
            </a:pP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2026. 08. 31.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기준</a:t>
            </a:r>
            <a:endParaRPr sz="12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800" y="2260600"/>
            <a:ext cx="10058400" cy="177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2413000"/>
            <a:ext cx="1320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400" y="2413000"/>
            <a:ext cx="3479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성과지표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9000" y="2413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목표(A)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6800" y="2413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달성(B)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2413000"/>
            <a:ext cx="2235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달성률(B/A)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800" y="27432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29464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정량·필수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8400" y="2946400"/>
            <a:ext cx="347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외국인환자 유치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9000" y="2946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12 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6800" y="2946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0 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2946400"/>
            <a:ext cx="223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6800" y="33274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35052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정량·부가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8400" y="3505200"/>
            <a:ext cx="347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사전상담·사후관리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9000" y="3505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120 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6800" y="3505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29 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0" y="3505200"/>
            <a:ext cx="223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24%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6800" y="38862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6800" y="4064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정량·부가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8400" y="4064000"/>
            <a:ext cx="347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환자 만족도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9000" y="4064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90 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6800" y="4064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미측정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4064000"/>
            <a:ext cx="223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1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 유치 이후 수집</a:t>
            </a:r>
            <a:endParaRPr sz="11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66800" y="44450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6800" y="46228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정성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8400" y="4622800"/>
            <a:ext cx="347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ICT 사전상담·사후관리 체계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9000" y="4622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플랫폼 구축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6800" y="4622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구축 완료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4622800"/>
            <a:ext cx="223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달성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6800" y="50038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6800" y="51816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정성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8400" y="5181600"/>
            <a:ext cx="347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양·한방 협진 연계 치료모델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9000" y="5181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협진체계 수립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6800" y="5181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수립·운영 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0000" y="5181600"/>
            <a:ext cx="223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달성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6800" y="55626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6800" y="5918200"/>
            <a:ext cx="9652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정성지표 둘은 달성했고, 정량은 사전상담만 올라가고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73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플랫폼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구축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완료</a:t>
            </a:r>
            <a:endParaRPr sz="25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800"/>
              </a:spcBef>
            </a:pP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6대 ICT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서비스를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모두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구현했습니다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러시아어·카자흐어를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포함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6개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언어</a:t>
            </a:r>
            <a:r>
              <a:rPr lang="en-US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지원</a:t>
            </a:r>
            <a:endParaRPr sz="12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0066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사전상담 3종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1656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사후관리 3종</a:t>
            </a:r>
          </a:p>
        </p:txBody>
      </p:sp>
      <p:pic>
        <p:nvPicPr>
          <p:cNvPr id="7" name="Picture 6" descr="07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311400"/>
            <a:ext cx="3149600" cy="121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800" y="36068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① 병원안내 · 매칭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제2의료소견을 안내하고 바로 상담 신청으로</a:t>
            </a:r>
          </a:p>
        </p:txBody>
      </p:sp>
      <p:pic>
        <p:nvPicPr>
          <p:cNvPr id="9" name="Picture 8" descr="07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2311400"/>
            <a:ext cx="3149600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70400" y="3606800"/>
            <a:ext cx="3149600" cy="32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②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진료의뢰</a:t>
            </a: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·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상담</a:t>
            </a:r>
            <a:endParaRPr sz="10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  <a:p>
            <a:pPr>
              <a:spcBef>
                <a:spcPts val="200"/>
              </a:spcBef>
            </a:pP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병원에서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어떤 치료를 받는지 안내</a:t>
            </a:r>
            <a:endParaRPr sz="9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pic>
        <p:nvPicPr>
          <p:cNvPr id="11" name="Picture 10" descr="07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2311400"/>
            <a:ext cx="3149600" cy="121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74000" y="36068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③ 예약상담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AI 상담 · 메신저 · 문의폼을 한 곳으로</a:t>
            </a:r>
          </a:p>
        </p:txBody>
      </p:sp>
      <p:pic>
        <p:nvPicPr>
          <p:cNvPr id="13" name="Picture 12" descr="11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4470400"/>
            <a:ext cx="3149600" cy="1219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57658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④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경과</a:t>
            </a: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관찰</a:t>
            </a:r>
            <a:endParaRPr sz="10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  <a:p>
            <a:pPr>
              <a:spcBef>
                <a:spcPts val="200"/>
              </a:spcBef>
            </a:pP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환자가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증상을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적으면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AI 가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위험도를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매겨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알림</a:t>
            </a:r>
            <a:endParaRPr sz="9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pic>
        <p:nvPicPr>
          <p:cNvPr id="15" name="Picture 14" descr="11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400" y="4470400"/>
            <a:ext cx="3149600" cy="1219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70400" y="57658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⑤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모니터링</a:t>
            </a: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·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교육</a:t>
            </a:r>
            <a:endParaRPr sz="10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  <a:p>
            <a:pPr>
              <a:spcBef>
                <a:spcPts val="200"/>
              </a:spcBef>
            </a:pP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암종별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교육자료를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치료단계에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맞춰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자동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배포</a:t>
            </a:r>
            <a:endParaRPr sz="9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pic>
        <p:nvPicPr>
          <p:cNvPr id="17" name="Picture 16" descr="11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0" y="4470400"/>
            <a:ext cx="3149600" cy="1219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74000" y="57658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⑥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재이용</a:t>
            </a:r>
            <a:r>
              <a:rPr sz="10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</a:t>
            </a:r>
            <a:r>
              <a:rPr sz="10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예약</a:t>
            </a:r>
            <a:endParaRPr sz="10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  <a:p>
            <a:pPr>
              <a:spcBef>
                <a:spcPts val="200"/>
              </a:spcBef>
            </a:pP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경과와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증상을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보고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재예약이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필요한지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자동</a:t>
            </a:r>
            <a:r>
              <a:rPr sz="9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판정</a:t>
            </a:r>
            <a:endParaRPr sz="9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6800" y="6248400"/>
            <a:ext cx="904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healwith.co.kr</a:t>
            </a:r>
            <a:r>
              <a:rPr lang="en-US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lang="ko-KR" altLang="en-US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웹서비스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·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안드로이드</a:t>
            </a:r>
            <a:r>
              <a:rPr lang="ko-KR" altLang="en-US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lang="en-US" altLang="ko-KR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· </a:t>
            </a:r>
            <a:r>
              <a:rPr lang="ko-KR" altLang="en-US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애플 출시</a:t>
            </a:r>
            <a:endParaRPr sz="900" dirty="0">
              <a:solidFill>
                <a:srgbClr val="888888"/>
              </a:solidFill>
              <a:latin typeface="에스코어 드림 3 Light"/>
              <a:ea typeface="에스코어 드림 3 Light"/>
              <a:cs typeface="에스코어 드림 3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73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원격협진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실증</a:t>
            </a:r>
            <a:endParaRPr sz="25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800"/>
              </a:spcBef>
            </a:pP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2026.08.04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환자와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화상 상담</a:t>
            </a:r>
            <a:endParaRPr sz="12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pic>
        <p:nvPicPr>
          <p:cNvPr id="5" name="Picture 4" descr="08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413000"/>
            <a:ext cx="5486400" cy="2743200"/>
          </a:xfrm>
          <a:prstGeom prst="rect">
            <a:avLst/>
          </a:prstGeom>
        </p:spPr>
      </p:pic>
      <p:pic>
        <p:nvPicPr>
          <p:cNvPr id="6" name="Picture 5" descr="08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2413000"/>
            <a:ext cx="49403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0912" y="5334000"/>
            <a:ext cx="291017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26. 08. 04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자사 플랫폼 화상회의 시스템으로 진행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6248400"/>
            <a:ext cx="904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해외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파트너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lang="ko-KR" altLang="en-US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미팅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도 </a:t>
            </a:r>
            <a:r>
              <a:rPr lang="ko-KR" altLang="en-US"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자사 플랫폼 화상회의 시스템으로 진행</a:t>
            </a:r>
            <a:endParaRPr sz="900" dirty="0">
              <a:solidFill>
                <a:srgbClr val="888888"/>
              </a:solidFill>
              <a:latin typeface="에스코어 드림 3 Light"/>
              <a:ea typeface="에스코어 드림 3 Light"/>
              <a:cs typeface="에스코어 드림 3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73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제2의료소견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확보·전달</a:t>
            </a:r>
            <a:endParaRPr sz="25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800"/>
              </a:spcBef>
            </a:pP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대학병원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소견을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받아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언어로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옮겨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전달했습니다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</a:p>
        </p:txBody>
      </p:sp>
      <p:pic>
        <p:nvPicPr>
          <p:cNvPr id="5" name="Picture 4" descr="09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2184400"/>
            <a:ext cx="2422236" cy="3533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" y="2489200"/>
            <a:ext cx="4826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현지 의무기록을 받아 번역·정리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러시아어 원본을 영문·한글로</a:t>
            </a:r>
          </a:p>
          <a:p>
            <a:pPr>
              <a:spcBef>
                <a:spcPts val="2200"/>
              </a:spcBef>
            </a:pPr>
            <a:r>
              <a:rPr sz="13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협진 병원에 의뢰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면력 · 신촌면력 · 이대서울 · 이대목동</a:t>
            </a:r>
          </a:p>
          <a:p>
            <a:pPr>
              <a:spcBef>
                <a:spcPts val="2200"/>
              </a:spcBef>
            </a:pPr>
            <a:r>
              <a:rPr sz="13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회신 소견을 환자 언어로 다시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러시아어 번역본까지 함께 전달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5080000"/>
            <a:ext cx="48260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52578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환자는 방한 전에 치료 가능 여부와 대략의 비용을 압니다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6248400"/>
            <a:ext cx="904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오른쪽은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이대서울병원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국제진료센터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회신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(2026.08.14)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8CF5AE4-B48E-7AEC-C72A-8EF5F5F9F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936" y="2097578"/>
            <a:ext cx="2724164" cy="36682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사전상담 29건 · 환자별 내역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「환자 한 건에 대해 한 번 한 일」을 1건으로 셉니다. 계획서의 「유치 12건 × 10회」와 같은 기준입니다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4130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신장이식</a:t>
            </a:r>
            <a:endParaRPr sz="11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8400" y="2438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에티오피아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4800" y="2463800"/>
            <a:ext cx="2116666" cy="165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7200" y="24257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5건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8448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간이식</a:t>
            </a:r>
            <a:r>
              <a:rPr sz="11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</a:t>
            </a: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재수술</a:t>
            </a:r>
            <a:endParaRPr sz="11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8400" y="28702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4800" y="2895600"/>
            <a:ext cx="3810000" cy="165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47200" y="28575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9건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276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자궁경부</a:t>
            </a:r>
            <a:r>
              <a:rPr sz="11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</a:t>
            </a: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고도이형성</a:t>
            </a:r>
            <a:endParaRPr sz="11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8400" y="33020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키르기스스탄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84800" y="3327400"/>
            <a:ext cx="2540000" cy="165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7200" y="32893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6건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37084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왼쪽</a:t>
            </a:r>
            <a:r>
              <a:rPr sz="11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</a:t>
            </a: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신장암</a:t>
            </a:r>
            <a:endParaRPr sz="11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08400" y="37338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84800" y="3759200"/>
            <a:ext cx="2116666" cy="165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7200" y="3721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5건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41402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상행결장암</a:t>
            </a:r>
            <a:endParaRPr sz="11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8400" y="41656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84800" y="4191000"/>
            <a:ext cx="1270000" cy="165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47200" y="41529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3건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45720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저분화</a:t>
            </a:r>
            <a:r>
              <a:rPr sz="1150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 </a:t>
            </a:r>
            <a:r>
              <a:rPr sz="1150" dirty="0" err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암종</a:t>
            </a:r>
            <a:endParaRPr sz="1150" dirty="0">
              <a:solidFill>
                <a:srgbClr val="111111"/>
              </a:solidFill>
              <a:latin typeface="에스코어 드림 5 Medium"/>
              <a:ea typeface="에스코어 드림 5 Medium"/>
              <a:cs typeface="에스코어 드림 5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08400" y="4597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84800" y="4622800"/>
            <a:ext cx="423333" cy="165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7200" y="45847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1건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6800" y="50800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6800" y="5257800"/>
            <a:ext cx="889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접수·검토 / 병원 확인 요청 / 회신 수령 / 영상 상담 / 환자 전달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건별 일자와 증빙 위치는 별첨 「사전상담 건별 내역_4~8월」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파트너 네트워크 · 미팅 23회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 · 러시아 · 키르기스스탄 · 인도 · 영국 · 튀르키예 · 국내 대학병원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6248400"/>
            <a:ext cx="904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미팅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23회 =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해외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의료기관·에이전시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21 ·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국내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대학병원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2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35200"/>
            <a:ext cx="3175000" cy="157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6800" y="38862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06.19  MedicaTour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235200"/>
            <a:ext cx="3175000" cy="157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95800" y="38862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07.02  Medex Travel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235200"/>
            <a:ext cx="3175000" cy="157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4800" y="38862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07.06  Madanes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4267200"/>
            <a:ext cx="3175000" cy="157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800" y="59182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07.20  Clinic Navigator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4267200"/>
            <a:ext cx="3175000" cy="157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95800" y="59182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07.27  Medguide.kz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0" y="4267200"/>
            <a:ext cx="3175000" cy="157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24800" y="5918200"/>
            <a:ext cx="3175000" cy="20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07.29  SAULYK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계약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·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협약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·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등록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10건</a:t>
            </a:r>
          </a:p>
          <a:p>
            <a:pPr>
              <a:spcBef>
                <a:spcPts val="800"/>
              </a:spcBef>
            </a:pP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환자가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오는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경로를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넓히려고</a:t>
            </a:r>
            <a:r>
              <a:rPr sz="12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맺었습니다</a:t>
            </a:r>
            <a:endParaRPr sz="12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4130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04월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7200" y="2387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Global Healthcare Opulence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1200" y="2413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인도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800" y="27686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46800" y="24130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05월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7200" y="2387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MedVoyage 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413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영국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6800" y="27686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6800" y="29972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07월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7200" y="29718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Medguide.kz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29972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" y="33528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6800" y="29972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07월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200" y="29718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UMIT 국제암센터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9972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3528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6800" y="35814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07월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7200" y="35560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이화여자대학교 의료원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200" y="35814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대한민국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" y="39370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6800" y="35814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07월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7200" y="35560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MedicaTour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5814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6800" y="39370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6800" y="41656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08월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27200" y="41402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SAULYK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1200" y="4165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영국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" y="45212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6800" y="41656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08월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7200" y="41402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신촌세브란스병원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165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대한민국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6800" y="45212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6800" y="47498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08월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7200" y="4724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Medex Travel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1200" y="47498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키르기스스탄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" y="51054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6800" y="4749800"/>
            <a:ext cx="558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08월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7200" y="4724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Clinic Navigator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7498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카자흐스탄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6800" y="5105400"/>
            <a:ext cx="4724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Big Tourism · DeepMed 등도 검토 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현지 홍보 채널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러시아어·카자흐어 영상과 게시물로 서비스를 알리고 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틱톡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영상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8편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누적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</a:t>
            </a:r>
            <a:r>
              <a:rPr sz="900" dirty="0" err="1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조회</a:t>
            </a:r>
            <a:r>
              <a:rPr sz="900" dirty="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 1,884회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2489200"/>
            <a:ext cx="4191000" cy="18338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300" dirty="0">
                <a:latin typeface="+mj-ea"/>
                <a:ea typeface="+mj-ea"/>
                <a:cs typeface="에스코어 드림 7 ExtraBold"/>
              </a:rPr>
              <a:t>플랫폼</a:t>
            </a:r>
            <a:r>
              <a:rPr lang="ko-KR" altLang="en-US" sz="1400" dirty="0">
                <a:latin typeface="+mj-ea"/>
                <a:ea typeface="+mj-ea"/>
                <a:cs typeface="에스코어 드림 4 Regular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에스코어 드림 4 Regular"/>
              </a:rPr>
              <a:t>· </a:t>
            </a:r>
            <a:r>
              <a:rPr lang="ko-KR" altLang="en-US" sz="1400" dirty="0">
                <a:latin typeface="+mj-ea"/>
                <a:ea typeface="+mj-ea"/>
                <a:cs typeface="에스코어 드림 4 Regular"/>
              </a:rPr>
              <a:t>병원 </a:t>
            </a:r>
            <a:r>
              <a:rPr sz="1300" dirty="0" err="1">
                <a:solidFill>
                  <a:srgbClr val="111111"/>
                </a:solidFill>
                <a:latin typeface="+mj-ea"/>
                <a:ea typeface="+mj-ea"/>
                <a:cs typeface="에스코어 드림 7 ExtraBold"/>
              </a:rPr>
              <a:t>홍보영상</a:t>
            </a:r>
            <a:r>
              <a:rPr sz="1300" dirty="0">
                <a:solidFill>
                  <a:srgbClr val="111111"/>
                </a:solidFill>
                <a:latin typeface="+mj-ea"/>
                <a:ea typeface="+mj-ea"/>
                <a:cs typeface="에스코어 드림 7 ExtraBold"/>
              </a:rPr>
              <a:t> </a:t>
            </a: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제작</a:t>
            </a:r>
            <a:endParaRPr sz="13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40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카자흐어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  <a:p>
            <a:pPr>
              <a:spcBef>
                <a:spcPts val="2200"/>
              </a:spcBef>
            </a:pP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틱</a:t>
            </a:r>
            <a:r>
              <a:rPr sz="1300" dirty="0" err="1">
                <a:solidFill>
                  <a:srgbClr val="111111"/>
                </a:solidFill>
                <a:latin typeface="+mj-ea"/>
                <a:ea typeface="+mj-ea"/>
                <a:cs typeface="에스코어 드림 7 ExtraBold"/>
              </a:rPr>
              <a:t>톡</a:t>
            </a:r>
            <a:r>
              <a:rPr lang="ko-KR" altLang="en-US" sz="1200" dirty="0">
                <a:latin typeface="+mj-ea"/>
                <a:ea typeface="+mj-ea"/>
                <a:cs typeface="에스코어 드림 4 Regular"/>
              </a:rPr>
              <a:t> </a:t>
            </a:r>
            <a:r>
              <a:rPr lang="en-US" altLang="ko-KR" sz="1200" dirty="0">
                <a:latin typeface="+mj-ea"/>
                <a:ea typeface="+mj-ea"/>
                <a:cs typeface="에스코어 드림 4 Regular"/>
              </a:rPr>
              <a:t>· </a:t>
            </a:r>
            <a:r>
              <a:rPr lang="ko-KR" altLang="en-US" sz="1200" dirty="0">
                <a:latin typeface="+mj-ea"/>
                <a:ea typeface="+mj-ea"/>
                <a:cs typeface="에스코어 드림 4 Regular"/>
              </a:rPr>
              <a:t>인스타 </a:t>
            </a:r>
            <a:r>
              <a:rPr lang="en-US" altLang="ko-KR" sz="1200" dirty="0">
                <a:latin typeface="+mj-ea"/>
                <a:ea typeface="+mj-ea"/>
                <a:cs typeface="에스코어 드림 4 Regular"/>
              </a:rPr>
              <a:t>· </a:t>
            </a:r>
            <a:r>
              <a:rPr lang="ko-KR" altLang="en-US" sz="1200" dirty="0">
                <a:latin typeface="+mj-ea"/>
                <a:ea typeface="+mj-ea"/>
                <a:cs typeface="에스코어 드림 4 Regular"/>
              </a:rPr>
              <a:t>페이스북</a:t>
            </a:r>
            <a:r>
              <a:rPr sz="1300" dirty="0">
                <a:solidFill>
                  <a:srgbClr val="111111"/>
                </a:solidFill>
                <a:latin typeface="+mj-ea"/>
                <a:ea typeface="+mj-ea"/>
                <a:cs typeface="에스코어 드림 7 ExtraBold"/>
              </a:rPr>
              <a:t> </a:t>
            </a:r>
            <a:r>
              <a:rPr sz="1300" dirty="0" err="1">
                <a:solidFill>
                  <a:srgbClr val="111111"/>
                </a:solidFill>
                <a:latin typeface="+mj-ea"/>
                <a:ea typeface="+mj-ea"/>
                <a:cs typeface="에스코어 드림 7 ExtraBold"/>
              </a:rPr>
              <a:t>계</a:t>
            </a: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정</a:t>
            </a:r>
            <a:r>
              <a:rPr sz="13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운영</a:t>
            </a:r>
            <a:endParaRPr sz="13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400"/>
              </a:spcBef>
            </a:pP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@healwith.kz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영상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8편</a:t>
            </a:r>
          </a:p>
          <a:p>
            <a:pPr>
              <a:spcBef>
                <a:spcPts val="2200"/>
              </a:spcBef>
            </a:pP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안내</a:t>
            </a:r>
            <a:r>
              <a:rPr sz="13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포스터</a:t>
            </a:r>
            <a:r>
              <a:rPr sz="13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· SNS </a:t>
            </a:r>
            <a:r>
              <a:rPr sz="13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게시물</a:t>
            </a:r>
            <a:endParaRPr sz="13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  <a:p>
            <a:pPr>
              <a:spcBef>
                <a:spcPts val="40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에이전시·병원에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배포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66800" y="5080000"/>
            <a:ext cx="41910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6800" y="5257800"/>
            <a:ext cx="4191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dirty="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9월부터 </a:t>
            </a:r>
            <a:r>
              <a:rPr sz="1200" dirty="0" err="1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</a:t>
            </a:r>
            <a:r>
              <a:rPr sz="1200" dirty="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200" dirty="0" err="1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검색광고</a:t>
            </a:r>
            <a:r>
              <a:rPr lang="ko-KR" altLang="en-US" sz="1200" dirty="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를 더해</a:t>
            </a:r>
            <a:r>
              <a:rPr sz="1200" dirty="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200" dirty="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자연 유입을 유도합니다</a:t>
            </a:r>
            <a:r>
              <a:rPr lang="en-US" altLang="ko-KR" sz="1200" dirty="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  <a:endParaRPr sz="1200" dirty="0">
              <a:solidFill>
                <a:srgbClr val="111111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pic>
        <p:nvPicPr>
          <p:cNvPr id="17" name="Picture 16" descr="RU_1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413000"/>
            <a:ext cx="1524000" cy="271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0" y="5232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홍보영상 (러시아어)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2413000"/>
            <a:ext cx="1803400" cy="271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12000" y="5232400"/>
            <a:ext cx="25654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안내 포스터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400" y="2413000"/>
            <a:ext cx="2768600" cy="271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69400" y="5232400"/>
            <a:ext cx="35306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틱톡 @healwith.kz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414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유치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실적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0건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2489200"/>
            <a:ext cx="10058400" cy="203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2870200"/>
            <a:ext cx="3048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80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9800" y="3200400"/>
            <a:ext cx="736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목표 12건</a:t>
            </a:r>
          </a:p>
          <a:p>
            <a:pPr>
              <a:spcBef>
                <a:spcPts val="1200"/>
              </a:spcBef>
            </a:pPr>
            <a:r>
              <a:rPr sz="135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문의는 왔습니다. 여섯 명 모두 의무기록을 보내 왔고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병원 검토까지 갔습니다. 그런데 치료 확정이 안 됐습니다.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800" y="47244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2026. 08. 31.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414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미진</a:t>
            </a:r>
            <a:r>
              <a:rPr sz="250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25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사유</a:t>
            </a:r>
            <a:endParaRPr sz="25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235200"/>
            <a:ext cx="889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문의 대다수가 장기이식·말기암이었습니다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590800"/>
            <a:ext cx="9144000" cy="197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신장이식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간이식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재수술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두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건은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공여자가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없어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국내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규정상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수술이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불가능했습니다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대학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병원에서도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당장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치료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를 확답할 수 없다는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회신을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받았습니다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454400"/>
            <a:ext cx="8890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에이전시에게는 이미 다른 선택지가 있었습니다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810000"/>
            <a:ext cx="9144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 에이전시들은 한국에 이미 거래선이 있었고, 인도·튀르키예라는 경쟁 선택지도 있었습니다. Medtour 는 방한 실사를 조건으로 걸었습니다.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673600"/>
            <a:ext cx="889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병원마다 다른 접수 절차를 사람이 메워 왔습니다</a:t>
            </a:r>
            <a:endParaRPr sz="140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5029200"/>
            <a:ext cx="9144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대학병원은 접수 창구와 양식이 제각각이라 자동 연동이 되지 않습니다. 그 간극을 저희가 직접 메워 소견 여섯 건을 모두 받아냈고, 하반기에는 병원별 양식을 플랫폼에 넣어 회신 시간을 줄입니다.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대책 방향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환자가 오는 길을 세 갈래로 넓힙니다. 9월부터 실행합니다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3622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>
                <a:solidFill>
                  <a:srgbClr val="CFCFCF"/>
                </a:solidFill>
                <a:latin typeface="에스코어 드림 8 Heavy"/>
                <a:ea typeface="에스코어 드림 8 Heavy"/>
                <a:cs typeface="에스코어 드림 8 Heav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2800" y="2387600"/>
            <a:ext cx="889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치료</a:t>
            </a:r>
            <a:r>
              <a:rPr sz="145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145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가능한</a:t>
            </a:r>
            <a:r>
              <a:rPr sz="145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145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환자군으로</a:t>
            </a:r>
            <a:endParaRPr sz="1450" dirty="0">
              <a:solidFill>
                <a:srgbClr val="111111"/>
              </a:solidFill>
              <a:latin typeface="에스코어 드림 7 ExtraBold"/>
              <a:ea typeface="에스코어 드림 7 ExtraBold"/>
              <a:cs typeface="에스코어 드림 7 Extra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82800" y="2743200"/>
            <a:ext cx="8890000" cy="197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종합검진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조기암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중심으로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유입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채널을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넓히고</a:t>
            </a:r>
            <a:r>
              <a:rPr lang="en-US" altLang="ko-KR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,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국내에 거주하고 있는 외국인 환자 유입도 유도하겠습니다</a:t>
            </a:r>
            <a:r>
              <a:rPr lang="en-US" altLang="ko-KR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34798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>
                <a:solidFill>
                  <a:srgbClr val="CFCFCF"/>
                </a:solidFill>
                <a:latin typeface="에스코어 드림 8 Heavy"/>
                <a:ea typeface="에스코어 드림 8 Heavy"/>
                <a:cs typeface="에스코어 드림 8 Heav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800" y="3505200"/>
            <a:ext cx="889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에이전시를</a:t>
            </a:r>
            <a:r>
              <a:rPr sz="145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145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거치지</a:t>
            </a:r>
            <a:r>
              <a:rPr sz="145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</a:t>
            </a:r>
            <a:r>
              <a:rPr sz="1450" dirty="0" err="1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않는</a:t>
            </a:r>
            <a:r>
              <a:rPr sz="1450" dirty="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 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2800" y="3860800"/>
            <a:ext cx="8890000" cy="197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검색광고로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직접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들어오게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합니다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러시아·CIS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대상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콘텐츠를 제작해 </a:t>
            </a:r>
            <a:r>
              <a:rPr lang="en-US" altLang="ko-KR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SNS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를 운영하고 있습니다</a:t>
            </a:r>
            <a:r>
              <a:rPr lang="en-US" altLang="ko-KR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800" y="45974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>
                <a:solidFill>
                  <a:srgbClr val="CFCFCF"/>
                </a:solidFill>
                <a:latin typeface="에스코어 드림 8 Heavy"/>
                <a:ea typeface="에스코어 드림 8 Heavy"/>
                <a:cs typeface="에스코어 드림 8 Heavy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800" y="4622800"/>
            <a:ext cx="889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보험사 채널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2800" y="4978400"/>
            <a:ext cx="889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러시아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Madanes 와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보험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가입자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연계를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열었습니다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보험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안내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페이지와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전용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계정을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신설했습니다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잔여 보조금 약 5,659만원을 현지 광고 · 파트너 초청 · 인건비 · 국외여비에 집중 투입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향후 추진일정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2026. 11. 20. 사업 종료까지 남은 석 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489200"/>
            <a:ext cx="88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9월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6800" y="2489200"/>
            <a:ext cx="8382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첫 유치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6800" y="2819400"/>
            <a:ext cx="889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검색광고</a:t>
            </a:r>
            <a:r>
              <a:rPr lang="ko-KR" altLang="en-US" sz="1050" dirty="0">
                <a:solidFill>
                  <a:srgbClr val="888888"/>
                </a:solidFill>
                <a:ea typeface="에스코어 드림 4 Regular"/>
                <a:cs typeface="에스코어 드림 4 Regular"/>
              </a:rPr>
              <a:t> </a:t>
            </a:r>
            <a:r>
              <a:rPr lang="en-US" altLang="ko-KR" sz="1050" dirty="0">
                <a:solidFill>
                  <a:srgbClr val="888888"/>
                </a:solidFill>
                <a:ea typeface="에스코어 드림 4 Regular"/>
                <a:cs typeface="에스코어 드림 4 Regular"/>
              </a:rPr>
              <a:t>· </a:t>
            </a:r>
            <a:r>
              <a:rPr lang="ko-KR" altLang="en-US" sz="1050" dirty="0">
                <a:solidFill>
                  <a:srgbClr val="888888"/>
                </a:solidFill>
                <a:ea typeface="에스코어 드림 4 Regular"/>
                <a:cs typeface="에스코어 드림 4 Regular"/>
              </a:rPr>
              <a:t>콘텐츠광고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본격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집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행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32766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800" y="3581400"/>
            <a:ext cx="88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10월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6800" y="3581400"/>
            <a:ext cx="8382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사후관리 가동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6800" y="3911600"/>
            <a:ext cx="889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실환자에게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자동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안내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적용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만족도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설문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수집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개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시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6800" y="43688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6800" y="4673600"/>
            <a:ext cx="88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11월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6800" y="4673600"/>
            <a:ext cx="8382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목표 달성 · 최종보고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6800" y="5003800"/>
            <a:ext cx="889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유치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12건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사전상담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120건 · UMIT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통한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경과관찰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데이터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수집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사업기간 2026. 4. 6. ~ 2026. 11. 20.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사업비 집행 현황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총사업비 대비 22.8% 집행. 국외여비와 위탁사업비가 9월 이후에 몰려 있는 구조입니다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489200"/>
            <a:ext cx="38100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dirty="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13,406</a:t>
            </a:r>
            <a:r>
              <a:rPr lang="en-US" sz="3000" dirty="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 </a:t>
            </a:r>
            <a:r>
              <a:rPr lang="ko-KR" altLang="en-US" sz="3000" dirty="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천원</a:t>
            </a:r>
            <a:endParaRPr sz="3000" dirty="0">
              <a:solidFill>
                <a:srgbClr val="111111"/>
              </a:solidFill>
              <a:latin typeface="에스코어 드림 8 Heavy"/>
              <a:ea typeface="에스코어 드림 8 Heavy"/>
              <a:cs typeface="에스코어 드림 8 Heavy"/>
            </a:endParaRPr>
          </a:p>
          <a:p>
            <a:pPr>
              <a:spcBef>
                <a:spcPts val="600"/>
              </a:spcBef>
            </a:pPr>
            <a:r>
              <a:rPr lang="ko-KR" altLang="en-US" sz="11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집</a:t>
            </a:r>
            <a:r>
              <a:rPr sz="11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행 (</a:t>
            </a:r>
            <a:r>
              <a:rPr sz="11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총사업비</a:t>
            </a:r>
            <a:r>
              <a:rPr sz="11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87,500천원)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6800" y="2489200"/>
            <a:ext cx="50800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dirty="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56,594</a:t>
            </a:r>
            <a:r>
              <a:rPr lang="en-US" sz="3000" dirty="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 </a:t>
            </a:r>
            <a:r>
              <a:rPr lang="ko-KR" altLang="en-US" sz="3000" dirty="0">
                <a:solidFill>
                  <a:srgbClr val="111111"/>
                </a:solidFill>
                <a:latin typeface="에스코어 드림 8 Heavy"/>
                <a:ea typeface="에스코어 드림 8 Heavy"/>
                <a:cs typeface="에스코어 드림 8 Heavy"/>
              </a:rPr>
              <a:t>천원</a:t>
            </a:r>
            <a:endParaRPr sz="3000" dirty="0">
              <a:solidFill>
                <a:srgbClr val="111111"/>
              </a:solidFill>
              <a:latin typeface="에스코어 드림 8 Heavy"/>
              <a:ea typeface="에스코어 드림 8 Heavy"/>
              <a:cs typeface="에스코어 드림 8 Heavy"/>
            </a:endParaRPr>
          </a:p>
          <a:p>
            <a:pPr>
              <a:spcBef>
                <a:spcPts val="600"/>
              </a:spcBef>
            </a:pPr>
            <a:r>
              <a:rPr sz="11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보조금</a:t>
            </a:r>
            <a:r>
              <a:rPr sz="110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10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잔액</a:t>
            </a:r>
            <a:endParaRPr sz="110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6800" y="38100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4038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인건비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4038600"/>
            <a:ext cx="533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7월분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급여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0" y="4038600"/>
            <a:ext cx="2413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5,555,560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419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홍보비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800" y="4419600"/>
            <a:ext cx="533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온라인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마케팅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위탁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영상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제작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0" y="4419600"/>
            <a:ext cx="2413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7,000,000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800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운영비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4800600"/>
            <a:ext cx="533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앱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배포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서버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데이터베이스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서비스 구독료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0" y="4800600"/>
            <a:ext cx="2413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250,826 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5181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소모품비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0800" y="5181600"/>
            <a:ext cx="533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참여기관 소모품비용 집행</a:t>
            </a:r>
            <a:endParaRPr sz="1050" dirty="0">
              <a:solidFill>
                <a:srgbClr val="888888"/>
              </a:solidFill>
              <a:latin typeface="에스코어 드림 4 Regular"/>
              <a:ea typeface="에스코어 드림 4 Regular"/>
              <a:cs typeface="에스코어 드림 4 Regula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0" y="5181600"/>
            <a:ext cx="2413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에스코어 드림 4 Regular"/>
                <a:ea typeface="에스코어 드림 4 Regular"/>
                <a:cs typeface="에스코어 드림 4 Regular"/>
              </a:rPr>
              <a:t>600,000 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2026.08.25 기준 · 08.10 회계법인 제출 「사업비 사용실적보고서」와 같은 기준 · 자체 개발로 외주 개발비 0원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CFCFCF"/>
                </a:solidFill>
                <a:latin typeface="에스코어 드림 5 Medium"/>
                <a:ea typeface="에스코어 드림 5 Medium"/>
                <a:cs typeface="에스코어 드림 5 Medium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787400"/>
            <a:ext cx="1005840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50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개발 추진 현황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전 항목 계획일정 내 완료. 현재 「운영 및 통제」 단계입니다</a:t>
            </a:r>
          </a:p>
        </p:txBody>
      </p:sp>
      <p:sp>
        <p:nvSpPr>
          <p:cNvPr id="5" name="Oval 4"/>
          <p:cNvSpPr/>
          <p:nvPr/>
        </p:nvSpPr>
        <p:spPr>
          <a:xfrm>
            <a:off x="1066800" y="25400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97000" y="2463800"/>
            <a:ext cx="101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0" y="2476500"/>
            <a:ext cx="889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4월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800" y="24765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현황분석 · GAP분석 · 요구사항 도출</a:t>
            </a:r>
          </a:p>
        </p:txBody>
      </p:sp>
      <p:sp>
        <p:nvSpPr>
          <p:cNvPr id="9" name="Oval 8"/>
          <p:cNvSpPr/>
          <p:nvPr/>
        </p:nvSpPr>
        <p:spPr>
          <a:xfrm>
            <a:off x="1066800" y="31242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7000" y="3048000"/>
            <a:ext cx="101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0" y="3060700"/>
            <a:ext cx="889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5월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6800" y="30607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인터페이스 · 데이터 · 프로그램 · 시험 설계</a:t>
            </a:r>
          </a:p>
        </p:txBody>
      </p:sp>
      <p:sp>
        <p:nvSpPr>
          <p:cNvPr id="13" name="Oval 12"/>
          <p:cNvSpPr/>
          <p:nvPr/>
        </p:nvSpPr>
        <p:spPr>
          <a:xfrm>
            <a:off x="1066800" y="37084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97000" y="3632200"/>
            <a:ext cx="101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000" y="3644900"/>
            <a:ext cx="889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7월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6800" y="36449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6개 언어 · 원격협진 · AI 상담 · 관리자 화면</a:t>
            </a:r>
          </a:p>
        </p:txBody>
      </p:sp>
      <p:sp>
        <p:nvSpPr>
          <p:cNvPr id="17" name="Oval 16"/>
          <p:cNvSpPr/>
          <p:nvPr/>
        </p:nvSpPr>
        <p:spPr>
          <a:xfrm>
            <a:off x="1066800" y="42926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97000" y="4216400"/>
            <a:ext cx="101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시험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000" y="4229100"/>
            <a:ext cx="889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7월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6800" y="42291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통합·시스템 시험 · 자동검사 상시 가동</a:t>
            </a:r>
          </a:p>
        </p:txBody>
      </p:sp>
      <p:sp>
        <p:nvSpPr>
          <p:cNvPr id="21" name="Oval 20"/>
          <p:cNvSpPr/>
          <p:nvPr/>
        </p:nvSpPr>
        <p:spPr>
          <a:xfrm>
            <a:off x="1066800" y="48768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7000" y="4800600"/>
            <a:ext cx="101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0000" y="4813300"/>
            <a:ext cx="889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>
                <a:solidFill>
                  <a:srgbClr val="888888"/>
                </a:solidFill>
                <a:latin typeface="에스코어 드림 5 Medium"/>
                <a:ea typeface="에스코어 드림 5 Medium"/>
                <a:cs typeface="에스코어 드림 5 Medium"/>
              </a:rPr>
              <a:t>7월~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6800" y="48133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설치·인도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완료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운영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및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통제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050" dirty="0" err="1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진행</a:t>
            </a:r>
            <a:r>
              <a:rPr sz="1050" dirty="0">
                <a:solidFill>
                  <a:srgbClr val="888888"/>
                </a:solidFill>
                <a:latin typeface="에스코어 드림 4 Regular"/>
                <a:ea typeface="에스코어 드림 4 Regular"/>
                <a:cs typeface="에스코어 드림 4 Regular"/>
              </a:rPr>
              <a:t> 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6800" y="5511800"/>
            <a:ext cx="10058400" cy="101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6800" y="5715000"/>
            <a:ext cx="889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지연 0주. 계획 일정을 넘긴 항목이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" y="6248400"/>
            <a:ext cx="9042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888888"/>
                </a:solidFill>
                <a:latin typeface="에스코어 드림 3 Light"/>
                <a:ea typeface="에스코어 드림 3 Light"/>
                <a:cs typeface="에스코어 드림 3 Light"/>
              </a:rPr>
              <a:t>항목별 계획·추진일정 대조표는 별첨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0" y="62738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>
                <a:solidFill>
                  <a:srgbClr val="9A9A9A"/>
                </a:solidFill>
                <a:latin typeface="에스코어 드림 5 Medium"/>
                <a:ea typeface="에스코어 드림 5 Medium"/>
                <a:cs typeface="에스코어 드림 5 Medium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159000"/>
            <a:ext cx="9906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>
                <a:solidFill>
                  <a:srgbClr val="F5F5F5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만드는 일은 끝났습니다.</a:t>
            </a:r>
          </a:p>
          <a:p>
            <a:pPr>
              <a:spcBef>
                <a:spcPts val="1000"/>
              </a:spcBef>
            </a:pPr>
            <a:r>
              <a:rPr sz="3000">
                <a:solidFill>
                  <a:srgbClr val="F5F5F5"/>
                </a:solidFill>
                <a:latin typeface="에스코어 드림 7 ExtraBold"/>
                <a:ea typeface="에스코어 드림 7 ExtraBold"/>
                <a:cs typeface="에스코어 드림 7 ExtraBold"/>
              </a:rPr>
              <a:t>남은 것은 환자를 데려오는 일입니다.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3886200"/>
            <a:ext cx="1219200" cy="2032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4267200"/>
            <a:ext cx="9906000" cy="502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dirty="0" err="1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플랫폼</a:t>
            </a:r>
            <a:r>
              <a:rPr sz="1300" dirty="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300" dirty="0" err="1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구축</a:t>
            </a:r>
            <a:r>
              <a:rPr sz="1300" dirty="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300" dirty="0" err="1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완료</a:t>
            </a:r>
            <a:r>
              <a:rPr sz="1300" dirty="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 · </a:t>
            </a:r>
            <a:r>
              <a:rPr sz="1300" dirty="0" err="1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파트너</a:t>
            </a:r>
            <a:r>
              <a:rPr sz="1300" dirty="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 23곳 · </a:t>
            </a:r>
            <a:r>
              <a:rPr sz="1300" dirty="0" err="1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계약</a:t>
            </a:r>
            <a:r>
              <a:rPr sz="1300" dirty="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 10건 · </a:t>
            </a:r>
            <a:r>
              <a:rPr sz="1300" dirty="0" err="1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사전상담</a:t>
            </a:r>
            <a:r>
              <a:rPr sz="1300" dirty="0">
                <a:solidFill>
                  <a:srgbClr val="9A9A9A"/>
                </a:solidFill>
                <a:latin typeface="에스코어 드림 4 Regular"/>
                <a:ea typeface="에스코어 드림 4 Regular"/>
                <a:cs typeface="에스코어 드림 4 Regular"/>
              </a:rPr>
              <a:t> 29건</a:t>
            </a: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9월부터 </a:t>
            </a:r>
            <a:r>
              <a:rPr sz="1300" dirty="0" err="1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현지</a:t>
            </a: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lang="ko-KR" altLang="en-US"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마케팅 확대</a:t>
            </a: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와 </a:t>
            </a:r>
            <a:r>
              <a:rPr lang="ko-KR" altLang="en-US"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환자 및 국가 다변화</a:t>
            </a: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로 </a:t>
            </a:r>
            <a:r>
              <a:rPr sz="1300" dirty="0" err="1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유치</a:t>
            </a: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300" dirty="0" err="1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전환을</a:t>
            </a: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 </a:t>
            </a:r>
            <a:r>
              <a:rPr sz="1300" dirty="0" err="1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시작합니다</a:t>
            </a:r>
            <a:r>
              <a:rPr sz="1300" dirty="0">
                <a:solidFill>
                  <a:srgbClr val="F5F5F5"/>
                </a:solidFill>
                <a:latin typeface="에스코어 드림 4 Regular"/>
                <a:ea typeface="에스코어 드림 4 Regular"/>
                <a:cs typeface="에스코어 드림 4 Regula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에스코어 드림 7 ExtraBold"/>
        <a:ea typeface="에스코어 드림 7 ExtraBold"/>
        <a:cs typeface=""/>
        <a:font script="Jpan" typeface="ＭＳ Ｐゴシック"/>
        <a:font script="Hang" typeface="에스코어 드림 7 ExtraBol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에스코어 드림 4 Regular"/>
        <a:ea typeface="에스코어 드림 4 Regular"/>
        <a:cs typeface=""/>
        <a:font script="Jpan" typeface="ＭＳ Ｐゴシック"/>
        <a:font script="Hang" typeface="에스코어 드림 4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1177</Words>
  <Application>Microsoft Office PowerPoint</Application>
  <PresentationFormat>와이드스크린</PresentationFormat>
  <Paragraphs>256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에스코어 드림 3 Light</vt:lpstr>
      <vt:lpstr>에스코어 드림 4 Regular</vt:lpstr>
      <vt:lpstr>에스코어 드림 5 Medium</vt:lpstr>
      <vt:lpstr>에스코어 드림 7 ExtraBold</vt:lpstr>
      <vt:lpstr>에스코어 드림 8 Heavy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석민 문</cp:lastModifiedBy>
  <cp:revision>6</cp:revision>
  <dcterms:created xsi:type="dcterms:W3CDTF">2013-01-27T09:14:16Z</dcterms:created>
  <dcterms:modified xsi:type="dcterms:W3CDTF">2026-08-31T10:23:58Z</dcterms:modified>
  <cp:category/>
</cp:coreProperties>
</file>