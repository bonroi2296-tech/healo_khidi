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5ae417a1064cc1" /><Relationship Type="http://schemas.openxmlformats.org/officeDocument/2006/relationships/extended-properties" Target="/docProps/app.xml" Id="R310b6624aaa6416b" /><Relationship Type="http://schemas.openxmlformats.org/officeDocument/2006/relationships/officeDocument" Target="/ppt/presentation.xml" Id="R78b7b163cc7b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271d75df44d0a"/>
  </p:sldMasterIdLst>
  <p:notesMasterIdLst>
    <p:notesMasterId xmlns:r="http://schemas.openxmlformats.org/officeDocument/2006/relationships" r:id="R483b7eccb42c467a"/>
  </p:notesMasterIdLst>
  <p:sldIdLst>
    <p:sldId xmlns:r="http://schemas.openxmlformats.org/officeDocument/2006/relationships" id="256" r:id="R5b8007010d814c0a"/>
    <p:sldId xmlns:r="http://schemas.openxmlformats.org/officeDocument/2006/relationships" id="257" r:id="R04303d9b0b7b492c"/>
    <p:sldId xmlns:r="http://schemas.openxmlformats.org/officeDocument/2006/relationships" id="258" r:id="Rd01cf405e98749d9"/>
    <p:sldId xmlns:r="http://schemas.openxmlformats.org/officeDocument/2006/relationships" id="259" r:id="R54b172fb58fe4582"/>
    <p:sldId xmlns:r="http://schemas.openxmlformats.org/officeDocument/2006/relationships" id="260" r:id="Redff451677674dc4"/>
    <p:sldId xmlns:r="http://schemas.openxmlformats.org/officeDocument/2006/relationships" id="261" r:id="R07acdf73fed44dd0"/>
    <p:sldId xmlns:r="http://schemas.openxmlformats.org/officeDocument/2006/relationships" id="262" r:id="Rf666f033378c4553"/>
    <p:sldId xmlns:r="http://schemas.openxmlformats.org/officeDocument/2006/relationships" id="263" r:id="R572e577a21fd44dc"/>
    <p:sldId xmlns:r="http://schemas.openxmlformats.org/officeDocument/2006/relationships" id="264" r:id="R36c47f343a114596"/>
    <p:sldId xmlns:r="http://schemas.openxmlformats.org/officeDocument/2006/relationships" id="265" r:id="Re279af98dba64bbb"/>
    <p:sldId xmlns:r="http://schemas.openxmlformats.org/officeDocument/2006/relationships" id="266" r:id="R7c01fb5156304f73"/>
    <p:sldId xmlns:r="http://schemas.openxmlformats.org/officeDocument/2006/relationships" id="267" r:id="R09f70ccfb54f4a81"/>
    <p:sldId xmlns:r="http://schemas.openxmlformats.org/officeDocument/2006/relationships" id="268" r:id="R8e82bdb847f64b02"/>
    <p:sldId xmlns:r="http://schemas.openxmlformats.org/officeDocument/2006/relationships" id="269" r:id="R07e0505d1371471c"/>
    <p:sldId xmlns:r="http://schemas.openxmlformats.org/officeDocument/2006/relationships" id="270" r:id="Rab45f6d7d4de4c9f"/>
    <p:sldId xmlns:r="http://schemas.openxmlformats.org/officeDocument/2006/relationships" id="271" r:id="R11b47ad10d714625"/>
    <p:sldId xmlns:r="http://schemas.openxmlformats.org/officeDocument/2006/relationships" id="272" r:id="R79632c1e24aa4bc4"/>
    <p:sldId xmlns:r="http://schemas.openxmlformats.org/officeDocument/2006/relationships" id="273" r:id="R8fcb5ca81cf64286"/>
    <p:sldId xmlns:r="http://schemas.openxmlformats.org/officeDocument/2006/relationships" id="274" r:id="Rf7c7c988c0c94cf3"/>
    <p:sldId xmlns:r="http://schemas.openxmlformats.org/officeDocument/2006/relationships" id="275" r:id="Rdf64e1785aa94834"/>
    <p:sldId xmlns:r="http://schemas.openxmlformats.org/officeDocument/2006/relationships" id="276" r:id="Ra8e6a6e508314a46"/>
    <p:sldId xmlns:r="http://schemas.openxmlformats.org/officeDocument/2006/relationships" id="277" r:id="R98f7453232ca4961"/>
    <p:sldId xmlns:r="http://schemas.openxmlformats.org/officeDocument/2006/relationships" id="278" r:id="Recee6fd1de1d4669"/>
    <p:sldId xmlns:r="http://schemas.openxmlformats.org/officeDocument/2006/relationships" id="279" r:id="Rd967680add6e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e0070d2d564acc" /><Relationship Type="http://schemas.openxmlformats.org/officeDocument/2006/relationships/slideMaster" Target="/ppt/slideMasters/slideMaster1.xml" Id="R4a2271d75df44d0a" /><Relationship Type="http://schemas.openxmlformats.org/officeDocument/2006/relationships/notesMaster" Target="/ppt/notesMasters/notesMaster1.xml" Id="R483b7eccb42c467a" /><Relationship Type="http://schemas.openxmlformats.org/officeDocument/2006/relationships/presProps" Target="/ppt/presProps.xml" Id="R337c4f6b6bd54e38" /><Relationship Type="http://schemas.openxmlformats.org/officeDocument/2006/relationships/tableStyles" Target="/ppt/tableStyles.xml" Id="R7ed3f08432d84e28" /><Relationship Type="http://schemas.openxmlformats.org/officeDocument/2006/relationships/slide" Target="/ppt/slides/slide1.xml" Id="R5b8007010d814c0a" /><Relationship Type="http://schemas.openxmlformats.org/officeDocument/2006/relationships/slide" Target="/ppt/slides/slide2.xml" Id="R04303d9b0b7b492c" /><Relationship Type="http://schemas.openxmlformats.org/officeDocument/2006/relationships/slide" Target="/ppt/slides/slide3.xml" Id="Rd01cf405e98749d9" /><Relationship Type="http://schemas.openxmlformats.org/officeDocument/2006/relationships/slide" Target="/ppt/slides/slide4.xml" Id="R54b172fb58fe4582" /><Relationship Type="http://schemas.openxmlformats.org/officeDocument/2006/relationships/slide" Target="/ppt/slides/slide5.xml" Id="Redff451677674dc4" /><Relationship Type="http://schemas.openxmlformats.org/officeDocument/2006/relationships/slide" Target="/ppt/slides/slide6.xml" Id="R07acdf73fed44dd0" /><Relationship Type="http://schemas.openxmlformats.org/officeDocument/2006/relationships/slide" Target="/ppt/slides/slide7.xml" Id="Rf666f033378c4553" /><Relationship Type="http://schemas.openxmlformats.org/officeDocument/2006/relationships/slide" Target="/ppt/slides/slide8.xml" Id="R572e577a21fd44dc" /><Relationship Type="http://schemas.openxmlformats.org/officeDocument/2006/relationships/slide" Target="/ppt/slides/slide9.xml" Id="R36c47f343a114596" /><Relationship Type="http://schemas.openxmlformats.org/officeDocument/2006/relationships/slide" Target="/ppt/slides/slide10.xml" Id="Re279af98dba64bbb" /><Relationship Type="http://schemas.openxmlformats.org/officeDocument/2006/relationships/slide" Target="/ppt/slides/slide11.xml" Id="R7c01fb5156304f73" /><Relationship Type="http://schemas.openxmlformats.org/officeDocument/2006/relationships/slide" Target="/ppt/slides/slide12.xml" Id="R09f70ccfb54f4a81" /><Relationship Type="http://schemas.openxmlformats.org/officeDocument/2006/relationships/slide" Target="/ppt/slides/slide13.xml" Id="R8e82bdb847f64b02" /><Relationship Type="http://schemas.openxmlformats.org/officeDocument/2006/relationships/slide" Target="/ppt/slides/slide14.xml" Id="R07e0505d1371471c" /><Relationship Type="http://schemas.openxmlformats.org/officeDocument/2006/relationships/slide" Target="/ppt/slides/slide15.xml" Id="Rab45f6d7d4de4c9f" /><Relationship Type="http://schemas.openxmlformats.org/officeDocument/2006/relationships/slide" Target="/ppt/slides/slide16.xml" Id="R11b47ad10d714625" /><Relationship Type="http://schemas.openxmlformats.org/officeDocument/2006/relationships/slide" Target="/ppt/slides/slide17.xml" Id="R79632c1e24aa4bc4" /><Relationship Type="http://schemas.openxmlformats.org/officeDocument/2006/relationships/slide" Target="/ppt/slides/slide18.xml" Id="R8fcb5ca81cf64286" /><Relationship Type="http://schemas.openxmlformats.org/officeDocument/2006/relationships/slide" Target="/ppt/slides/slide19.xml" Id="Rf7c7c988c0c94cf3" /><Relationship Type="http://schemas.openxmlformats.org/officeDocument/2006/relationships/slide" Target="/ppt/slides/slide20.xml" Id="Rdf64e1785aa94834" /><Relationship Type="http://schemas.openxmlformats.org/officeDocument/2006/relationships/slide" Target="/ppt/slides/slide21.xml" Id="Ra8e6a6e508314a46" /><Relationship Type="http://schemas.openxmlformats.org/officeDocument/2006/relationships/slide" Target="/ppt/slides/slide22.xml" Id="R98f7453232ca4961" /><Relationship Type="http://schemas.openxmlformats.org/officeDocument/2006/relationships/slide" Target="/ppt/slides/slide23.xml" Id="Recee6fd1de1d4669" /><Relationship Type="http://schemas.openxmlformats.org/officeDocument/2006/relationships/slide" Target="/ppt/slides/slide24.xml" Id="Rd967680add6e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17661a374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e5f673e474309" /><Relationship Type="http://schemas.openxmlformats.org/officeDocument/2006/relationships/notesMaster" Target="/ppt/notesMasters/notesMaster1.xml" Id="R3b6f9867b1e647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2458b0bfe34aea" /><Relationship Type="http://schemas.openxmlformats.org/officeDocument/2006/relationships/notesMaster" Target="/ppt/notesMasters/notesMaster1.xml" Id="Rae58b65db52d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028773bba5478b" /><Relationship Type="http://schemas.openxmlformats.org/officeDocument/2006/relationships/notesMaster" Target="/ppt/notesMasters/notesMaster1.xml" Id="Rbcf7aaf20c3b4d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57388c14e74681" /><Relationship Type="http://schemas.openxmlformats.org/officeDocument/2006/relationships/notesMaster" Target="/ppt/notesMasters/notesMaster1.xml" Id="R83ffc0a7f71f48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28fa73e6d415d" /><Relationship Type="http://schemas.openxmlformats.org/officeDocument/2006/relationships/notesMaster" Target="/ppt/notesMasters/notesMaster1.xml" Id="R83b0fb6071634e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8942cc5784b23" /><Relationship Type="http://schemas.openxmlformats.org/officeDocument/2006/relationships/notesMaster" Target="/ppt/notesMasters/notesMaster1.xml" Id="Rbd3169a4e036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e9dcf684f1404c" /><Relationship Type="http://schemas.openxmlformats.org/officeDocument/2006/relationships/notesMaster" Target="/ppt/notesMasters/notesMaster1.xml" Id="R7492a7847a154e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cf209b88634a2c" /><Relationship Type="http://schemas.openxmlformats.org/officeDocument/2006/relationships/notesMaster" Target="/ppt/notesMasters/notesMaster1.xml" Id="Redcc21c41ee5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bffe97cfc84156" /><Relationship Type="http://schemas.openxmlformats.org/officeDocument/2006/relationships/notesMaster" Target="/ppt/notesMasters/notesMaster1.xml" Id="Rc3f9fd8175e044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07c8f05e4475d" /><Relationship Type="http://schemas.openxmlformats.org/officeDocument/2006/relationships/notesMaster" Target="/ppt/notesMasters/notesMaster1.xml" Id="R90de249f5dae4c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121da5fb1a43d6" /><Relationship Type="http://schemas.openxmlformats.org/officeDocument/2006/relationships/notesMaster" Target="/ppt/notesMasters/notesMaster1.xml" Id="R2b2c0b3cdece48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420ae98d614ab6" /><Relationship Type="http://schemas.openxmlformats.org/officeDocument/2006/relationships/notesMaster" Target="/ppt/notesMasters/notesMaster1.xml" Id="Re7a944cd42844c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fc90c267a94d0c" /><Relationship Type="http://schemas.openxmlformats.org/officeDocument/2006/relationships/notesMaster" Target="/ppt/notesMasters/notesMaster1.xml" Id="Rde267f62fc5b44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21aa35f01f4320" /><Relationship Type="http://schemas.openxmlformats.org/officeDocument/2006/relationships/notesMaster" Target="/ppt/notesMasters/notesMaster1.xml" Id="R4508f53679c84f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a6d3f70a0142b5" /><Relationship Type="http://schemas.openxmlformats.org/officeDocument/2006/relationships/notesMaster" Target="/ppt/notesMasters/notesMaster1.xml" Id="R948920a7398f47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03f4b87ff746b9" /><Relationship Type="http://schemas.openxmlformats.org/officeDocument/2006/relationships/notesMaster" Target="/ppt/notesMasters/notesMaster1.xml" Id="R3c03861e0e2043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5a1a922af748a5" /><Relationship Type="http://schemas.openxmlformats.org/officeDocument/2006/relationships/notesMaster" Target="/ppt/notesMasters/notesMaster1.xml" Id="R6bfc72ac132442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071c82612948b1" /><Relationship Type="http://schemas.openxmlformats.org/officeDocument/2006/relationships/notesMaster" Target="/ppt/notesMasters/notesMaster1.xml" Id="Ra5c8c2d2190948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e096f01b014e6d" /><Relationship Type="http://schemas.openxmlformats.org/officeDocument/2006/relationships/notesMaster" Target="/ppt/notesMasters/notesMaster1.xml" Id="R7092f836765845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bcacaa14634872" /><Relationship Type="http://schemas.openxmlformats.org/officeDocument/2006/relationships/notesMaster" Target="/ppt/notesMasters/notesMaster1.xml" Id="Rc8f1f5b215ae4a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f256d2b7d845b4" /><Relationship Type="http://schemas.openxmlformats.org/officeDocument/2006/relationships/notesMaster" Target="/ppt/notesMasters/notesMaster1.xml" Id="Rdba845c95bb34d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3018a9e5534ff1" /><Relationship Type="http://schemas.openxmlformats.org/officeDocument/2006/relationships/notesMaster" Target="/ppt/notesMasters/notesMaster1.xml" Id="R9df75a82bb8247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e0887c4c794b90" /><Relationship Type="http://schemas.openxmlformats.org/officeDocument/2006/relationships/notesMaster" Target="/ppt/notesMasters/notesMaster1.xml" Id="R746c87d6a92849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a27a81a48a4ddd" /><Relationship Type="http://schemas.openxmlformats.org/officeDocument/2006/relationships/notesMaster" Target="/ppt/notesMasters/notesMaster1.xml" Id="R5f2b2ac82f4a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발표의 핵심은 정량 부진을 감추는 것이 아니라, 현재 상태를 사실대로 놓고 계속 지원 판단의 근거를 설명하는 것입니다.</a:t>
            </a:r>
          </a:p>
          <a:p xmlns:a="http://schemas.openxmlformats.org/drawingml/2006/main">
            <a:r>
              <a:t>유치 실적은 0건입니다. 다만 구축, 상담, 파트너, 운영통제의 실체가 확인되어 잔여기간 전환 검증으로 넘어갈 기반은 갖췄습니다.</a:t>
            </a:r>
          </a:p>
          <a:p xmlns:a="http://schemas.openxmlformats.org/drawingml/2006/main">
            <a:r>
              <a:t>발표는 평가항목 네 가지에 맞춰 사업모델, 추진실적, 향후계획, 성과지표 순서로 설명하겠습니다.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KHIDI_중간보고_코덱스_프롬프트.md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중간평가의 목적은 단순 발표가 아니라 사업 지속 여부와 잔금 지급 여부 판단입니다.</a:t>
            </a:r>
          </a:p>
          <a:p xmlns:a="http://schemas.openxmlformats.org/drawingml/2006/main">
            <a:r>
              <a:t>따라서 오늘 자료는 성과를 부풀리는 방식이 아니라, 낮은 정량지표를 인정하면서도 계속 지원의 근거를 만드는 방식으로 구성했습니다.</a:t>
            </a:r>
          </a:p>
          <a:p xmlns:a="http://schemas.openxmlformats.org/drawingml/2006/main">
            <a:r>
              <a:t>네 평가항목이 자료 전체에 어떻게 반영되는지 먼저 보여드리겠습니다.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2026년 ICT기반 외국인환자 사전상담 사후관리 지원사업 중간평가 계획(안)_안내용</a:t>
            </a:r>
          </a:p>
          <a:p xmlns:a="http://schemas.openxmlformats.org/drawingml/2006/main">
            <a:r>
              <a:t>사용자 제공 프롬프트 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사업의 위치는 명확합니다. 플랫폼 구축 자체는 완료했고 운영도 시작했습니다.</a:t>
            </a:r>
          </a:p>
          <a:p xmlns:a="http://schemas.openxmlformats.org/drawingml/2006/main">
            <a:r>
              <a:t>반면 환자 유치 실적은 아직 0건입니다.</a:t>
            </a:r>
          </a:p>
          <a:p xmlns:a="http://schemas.openxmlformats.org/drawingml/2006/main">
            <a:r>
              <a:t>따라서 남은 발표의 초점은 유치 0건을 회피하는 것이 아니라, 왜 0건이 발생했고 어떤 방식으로 전환 가능성을 검증할 것인지입니다.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§3, 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성과지표는 강한 부분과 약한 부분이 분명히 갈립니다.</a:t>
            </a:r>
          </a:p>
          <a:p xmlns:a="http://schemas.openxmlformats.org/drawingml/2006/main">
            <a:r>
              <a:t>정성지표인 플랫폼 구축은 구현 완료와 운영 중으로 제시할 수 있습니다.</a:t>
            </a:r>
          </a:p>
          <a:p xmlns:a="http://schemas.openxmlformats.org/drawingml/2006/main">
            <a:r>
              <a:t>그러나 유치 0건, 사전·사후관리 7건, 만족도 2건 응답은 그대로 제시해야 합니다.</a:t>
            </a:r>
          </a:p>
          <a:p xmlns:a="http://schemas.openxmlformats.org/drawingml/2006/main">
            <a:r>
              <a:t>이 슬라이드에서 숫자를 미화하지 않는 태도를 먼저 확보하는 것이 질의응답 방어에 중요합니다.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§3-3, §3-4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유치 실적 0건은 가장 큰 리스크입니다.</a:t>
            </a:r>
          </a:p>
          <a:p xmlns:a="http://schemas.openxmlformats.org/drawingml/2006/main">
            <a:r>
              <a:t>다만 원자료 기준에서 실제 문의 모수는 누적 6건입니다. 시험데이터를 제외한 정본 기준을 사용했습니다.</a:t>
            </a:r>
          </a:p>
          <a:p xmlns:a="http://schemas.openxmlformats.org/drawingml/2006/main">
            <a:r>
              <a:t>여기서는 0건을 숨기지 않고, 왜 전환 가능한 모수 자체가 부족했는지 설명하는 방식이 필요합니다.</a:t>
            </a:r>
          </a:p>
          <a:p xmlns:a="http://schemas.openxmlformats.org/drawingml/2006/main">
            <a:r>
              <a:t>이후 슬라이드에서는 이 모수 문제의 원인과 하반기 보완 방향을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§3-4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문의의 상당수는 장기이식이나 말기암처럼 단기 유치 전환이 어려운 케이스였습니다.</a:t>
            </a:r>
          </a:p>
          <a:p xmlns:a="http://schemas.openxmlformats.org/drawingml/2006/main">
            <a:r>
              <a:t>이런 케이스는 플랫폼의 의무기록 처리와 병원 검토 흐름을 검증하는 데는 의미가 있었지만, 중간평가 시점의 유치 실적으로 전환되기에는 불리했습니다.</a:t>
            </a:r>
          </a:p>
          <a:p xmlns:a="http://schemas.openxmlformats.org/drawingml/2006/main">
            <a:r>
              <a:t>특히 비급여 치료비와 보험 보장 한계는 환자 결정 지연의 실제 요인입니다.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§3-4, §4-4</a:t>
            </a:r>
          </a:p>
          <a:p xmlns:a="http://schemas.openxmlformats.org/drawingml/2006/main">
            <a:r>
              <a:t>사용자 제공 대화 맥락: 비급여 보험 적용 한계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정성 실적은 화면과 기능으로 보여주는 것이 가장 설득력이 높습니다.</a:t>
            </a:r>
          </a:p>
          <a:p xmlns:a="http://schemas.openxmlformats.org/drawingml/2006/main">
            <a:r>
              <a:t>HEALO는 사전상담 세 가지와 사후관리 세 가지를 모두 구현했고, 러시아어와 카자흐어를 포함한 6개 언어를 지원합니다.</a:t>
            </a:r>
          </a:p>
          <a:p xmlns:a="http://schemas.openxmlformats.org/drawingml/2006/main">
            <a:r>
              <a:t>평가위원에게는 이 장에서 ‘구축 완료’가 단순 문구가 아니라 실제 화면과 기능으로 확인 가능하다는 점을 전달합니다.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§4-2</a:t>
            </a:r>
          </a:p>
          <a:p xmlns:a="http://schemas.openxmlformats.org/drawingml/2006/main">
            <a:r>
              <a:t>로컬 화면 캡처: 중간평가/03. 화면 사진_260820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실적은 단순 화면 수가 아니라 운영 시스템 규모로 제시할 수 있습니다.</a:t>
            </a:r>
          </a:p>
          <a:p xmlns:a="http://schemas.openxmlformats.org/drawingml/2006/main">
            <a:r>
              <a:t>8월 31일 기준 약 20.7만 줄, API 229개, 화면 140개, 마이그레이션 159개, 테스트 파일 213개입니다.</a:t>
            </a:r>
          </a:p>
          <a:p xmlns:a="http://schemas.openxmlformats.org/drawingml/2006/main">
            <a:r>
              <a:t>6월 21일 대비 코드 규모가 약 53% 증가했다는 점은 지속 개발의 근거로 사용할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평가위원이 ICT 실체를 물을 경우 운영통제 구조를 보여주는 것이 중요합니다.</a:t>
            </a:r>
          </a:p>
          <a:p xmlns:a="http://schemas.openxmlformats.org/drawingml/2006/main">
            <a:r>
              <a:t>HEALO는 권한 분리, 개인정보 암호화, RLS, AI 품질 자동 점검, 성과지표 자동 집계를 포함합니다.</a:t>
            </a:r>
          </a:p>
          <a:p xmlns:a="http://schemas.openxmlformats.org/drawingml/2006/main">
            <a:r>
              <a:t>따라서 이 사업은 단순 소개 페이지 구축이 아니라 의료정보를 다루는 운영 시스템 구축으로 설명할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사전상담 실적은 숫자보다 프로세스의 닫힘을 보여줘야 합니다.</a:t>
            </a:r>
          </a:p>
          <a:p xmlns:a="http://schemas.openxmlformats.org/drawingml/2006/main">
            <a:r>
              <a:t>환자 의무기록을 받아 번역하고, 국내 의료진 검토를 거쳐, 환자 언어로 다시 전달하는 흐름이 이미 운영됐습니다.</a:t>
            </a:r>
          </a:p>
          <a:p xmlns:a="http://schemas.openxmlformats.org/drawingml/2006/main">
            <a:r>
              <a:t>현재 공식 실측 기준은 화상 사전상담 1건과 의료진 소견서를 글로 작성·전달한 6건입니다.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§4-4</a:t>
            </a:r>
          </a:p>
          <a:p xmlns:a="http://schemas.openxmlformats.org/drawingml/2006/main">
            <a:r>
              <a:t>소견서_healwith_개인정보가림_260831_claude.png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원격협진 실증은 강점이지만 표현을 잘못 쓰면 리스크가 됩니다.</a:t>
            </a:r>
          </a:p>
          <a:p xmlns:a="http://schemas.openxmlformats.org/drawingml/2006/main">
            <a:r>
              <a:t>개정법 시행 전인 현재는 온라인 진료를 제공했다고 말하지 않고, 사전상담과 정보 제공 범위에서 실증했다고 설명해야 합니다.</a:t>
            </a:r>
          </a:p>
          <a:p xmlns:a="http://schemas.openxmlformats.org/drawingml/2006/main">
            <a:r>
              <a:t>진료 주체는 유치의료기관 소속 의사이고, HEALO는 플랫폼과 유치업자의 역할을 수행한다는 구분을 분명히 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§5 법령 인용 시 지켜야 할 선</a:t>
            </a:r>
          </a:p>
          <a:p xmlns:a="http://schemas.openxmlformats.org/drawingml/2006/main">
            <a:r>
              <a:t>로컬 캡처 image_20260804_15.01.40.png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파트너 실적은 기존 v5의 23회와 10건보다, 제공된 정본 기준인 15건 회의와 4건 계약·MOU로 보수적으로 제시합니다.</a:t>
            </a:r>
          </a:p>
          <a:p xmlns:a="http://schemas.openxmlformats.org/drawingml/2006/main">
            <a:r>
              <a:t>평가위원이 증빙을 요구할 경우 회의록 원본, 계약서, MOU, 등록 병원 목록으로 연결할 수 있습니다.</a:t>
            </a:r>
          </a:p>
          <a:p xmlns:a="http://schemas.openxmlformats.org/drawingml/2006/main">
            <a:r>
              <a:t>이 장의 목적은 유치가 0건이어도 환자 유입 경로를 만들기 위한 외부 접점은 실제로 진행됐음을 보여주는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§4-4</a:t>
            </a:r>
          </a:p>
          <a:p xmlns:a="http://schemas.openxmlformats.org/drawingml/2006/main">
            <a:r>
              <a:t>협의사진_SAULYK_260826_claude.png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설명은 과장하면 바로 공격받을 수 있습니다.</a:t>
            </a:r>
          </a:p>
          <a:p xmlns:a="http://schemas.openxmlformats.org/drawingml/2006/main">
            <a:r>
              <a:t>카자흐스탄과 러시아가 전체 외국인환자 시장에서 상위권이 아니라는 불리한 사실을 먼저 인정합니다.</a:t>
            </a:r>
          </a:p>
          <a:p xmlns:a="http://schemas.openxmlformats.org/drawingml/2006/main">
            <a:r>
              <a:t>대신 본 사업은 대중 시장 증가에 베팅한 것이 아니라, 중증·치료형 수요에 맞는 사전상담 통로를 검증하는 사업이라고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수익모델은 법정 상한과 역할 구분을 동시에 방어해야 합니다.</a:t>
            </a:r>
          </a:p>
          <a:p xmlns:a="http://schemas.openxmlformats.org/drawingml/2006/main">
            <a:r>
              <a:t>유치수수료는 보건복지부 통합고시의 상한 범위 안에서 설명하고, 플랫폼 이용료와 의료관광 패키지는 의료행위가 아닌 운영지원과 비의료 서비스로 구분합니다.</a:t>
            </a:r>
          </a:p>
          <a:p xmlns:a="http://schemas.openxmlformats.org/drawingml/2006/main">
            <a:r>
              <a:t>이렇게 해야 사업모델의 구체성과 법적 타당성을 함께 확보할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§1,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사업비 슬라이드는 숫자 오류가 나면 신뢰가 크게 떨어집니다.</a:t>
            </a:r>
          </a:p>
          <a:p xmlns:a="http://schemas.openxmlformats.org/drawingml/2006/main">
            <a:r>
              <a:t>따라서 총사업비와 정부출연금, 자부담은 확정값으로 쓰고, 총 집행률은 회계자료 확인 전까지 확인 필요로 남깁니다.</a:t>
            </a:r>
          </a:p>
          <a:p xmlns:a="http://schemas.openxmlformats.org/drawingml/2006/main">
            <a:r>
              <a:t>자체 개발로 외주 개발비를 줄였다는 점은 정성 구축 성과와 연결해서 설명할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§1, §4-5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질의응답의 기준표 역할을 합니다.</a:t>
            </a:r>
          </a:p>
          <a:p xmlns:a="http://schemas.openxmlformats.org/drawingml/2006/main">
            <a:r>
              <a:t>당초 사업 목적과 범위는 유지했고, 사업추진 방법과 정성 구축은 충분히 설명할 수 있습니다.</a:t>
            </a:r>
          </a:p>
          <a:p xmlns:a="http://schemas.openxmlformats.org/drawingml/2006/main">
            <a:r>
              <a:t>반면 유치와 사후관리 정량은 미달이며, 사업비와 회계는 확인 필요 항목을 남겨야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§2, §3, §4-5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미진사유라는 제목은 방어적으로 보이기 때문에, 전환 제약 요인으로 표현하는 것이 좋습니다.</a:t>
            </a:r>
          </a:p>
          <a:p xmlns:a="http://schemas.openxmlformats.org/drawingml/2006/main">
            <a:r>
              <a:t>세 요인은 고난도 환자 편중, 기존 송출망 고착, 보험 보장 한계입니다.</a:t>
            </a:r>
          </a:p>
          <a:p xmlns:a="http://schemas.openxmlformats.org/drawingml/2006/main">
            <a:r>
              <a:t>이렇게 정리하면 13~14장의 실행계획과 자연스럽게 연결됩니다.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§3-4, §4-4</a:t>
            </a:r>
          </a:p>
          <a:p xmlns:a="http://schemas.openxmlformats.org/drawingml/2006/main">
            <a:r>
              <a:t>사용자 제공 대화 맥락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남은 기간의 실행계획은 광고 집행보다 전환 가능한 모수 확대에 초점을 맞춰야 합니다.</a:t>
            </a:r>
          </a:p>
          <a:p xmlns:a="http://schemas.openxmlformats.org/drawingml/2006/main">
            <a:r>
              <a:t>첫째, 환자군을 종합검진과 조기암, 국내 체류 외국인까지 넓힙니다.</a:t>
            </a:r>
          </a:p>
          <a:p xmlns:a="http://schemas.openxmlformats.org/drawingml/2006/main">
            <a:r>
              <a:t>둘째, 현지 검색광고와 콘텐츠로 직접 유입을 만들고, 셋째 보험사 채널을 통해 비용 부담 문제를 줄입니다.</a:t>
            </a:r>
          </a:p>
          <a:p xmlns:a="http://schemas.openxmlformats.org/drawingml/2006/main">
            <a:r>
              <a:t>마지막으로 첫 유치 이후 사후관리 실증과 만족도 수집까지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§4-2, §4-4,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일정은 첫 유치 확정처럼 단정적 표현을 피하고 단계형으로 제시합니다.</a:t>
            </a:r>
          </a:p>
          <a:p xmlns:a="http://schemas.openxmlformats.org/drawingml/2006/main">
            <a:r>
              <a:t>9월에는 모수 확대, 10월에는 첫 전환과 사후관리 실증, 11월에는 성과 정리와 최종보고로 이어집니다.</a:t>
            </a:r>
          </a:p>
          <a:p xmlns:a="http://schemas.openxmlformats.org/drawingml/2006/main">
            <a:r>
              <a:t>평가위원에게는 잔여기간의 계획이 희망사항이 아니라 단계별 검증 일정이라는 점을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§1, §3, 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예상 질의를 슬라이드 안에서 선제적으로 답하는 장입니다.</a:t>
            </a:r>
          </a:p>
          <a:p xmlns:a="http://schemas.openxmlformats.org/drawingml/2006/main">
            <a:r>
              <a:t>가장 큰 질문은 유치 0건, 차별성, 지원금 대비 산출, 법령 리스크입니다.</a:t>
            </a:r>
          </a:p>
          <a:p xmlns:a="http://schemas.openxmlformats.org/drawingml/2006/main">
            <a:r>
              <a:t>답변은 길게 변명하지 않고, 숫자를 인정한 뒤 구축 실체와 남은 검증계획으로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§2, §3, §4, §5,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마무리는 완료한 것과 부족한 것을 동시에 정리합니다.</a:t>
            </a:r>
          </a:p>
          <a:p xmlns:a="http://schemas.openxmlformats.org/drawingml/2006/main">
            <a:r>
              <a:t>완료한 기반은 명확하고, 부족한 정량 전환은 인정합니다.</a:t>
            </a:r>
          </a:p>
          <a:p xmlns:a="http://schemas.openxmlformats.org/drawingml/2006/main">
            <a:r>
              <a:t>잔여기간의 핵심은 광고비 지출 자체가 아니라, 전환 가능한 환자군과 유입경로를 검증해 실제 유치와 사후관리 실적으로 연결하는 것입니다.</a:t>
            </a:r>
          </a:p>
          <a:p xmlns:a="http://schemas.openxmlformats.org/drawingml/2006/main">
            <a:r>
              <a:t>따라서 계속 지원이 필요한 이유를 이 구조로 요청합니다.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§2, §3, §4,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부록은 발표 중 시간이 부족하면 넘기지 않고 질의응답 때 사용합니다.</a:t>
            </a:r>
          </a:p>
          <a:p xmlns:a="http://schemas.openxmlformats.org/drawingml/2006/main">
            <a:r>
              <a:t>첫 세 질문은 반드시 준비해야 하는 질문입니다.</a:t>
            </a:r>
          </a:p>
          <a:p xmlns:a="http://schemas.openxmlformats.org/drawingml/2006/main">
            <a:r>
              <a:t>답변의 원칙은 숫자를 인정하고, 구축 실체와 전환 계획으로 연결하는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§7,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법령, 시장, 회계 질문은 잘못 답하면 신뢰를 잃기 쉽습니다.</a:t>
            </a:r>
          </a:p>
          <a:p xmlns:a="http://schemas.openxmlformats.org/drawingml/2006/main">
            <a:r>
              <a:t>온라인 진료, 만족도 98점, 카자흐 시장 성장 같은 표현은 단정하지 않습니다.</a:t>
            </a:r>
          </a:p>
          <a:p xmlns:a="http://schemas.openxmlformats.org/drawingml/2006/main">
            <a:r>
              <a:t>참여기관 실적과 집행률은 확인 전까지 확인 필요로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§3-2, §3-4, §4-5, §5, §6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부록은 발표 전 체크리스트입니다.</a:t>
            </a:r>
          </a:p>
          <a:p xmlns:a="http://schemas.openxmlformats.org/drawingml/2006/main">
            <a:r>
              <a:t>이 항목은 확인 없이 숫자를 넣으면 오히려 평가 리스크가 커집니다.</a:t>
            </a:r>
          </a:p>
          <a:p xmlns:a="http://schemas.openxmlformats.org/drawingml/2006/main">
            <a:r>
              <a:t>특히 참여기관 실적, 총 집행률, 회계검토 결과, 홍보비 실제 이체 여부를 우선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§3-2, §4-5,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fd7608490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3e65a63204c7b" /><Relationship Type="http://schemas.openxmlformats.org/officeDocument/2006/relationships/slideLayout" Target="/ppt/slideLayouts/slideLayout1.xml" Id="Rd3778e46141f41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78e46141f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7bbb199b44d5" /><Relationship Type="http://schemas.openxmlformats.org/officeDocument/2006/relationships/notesSlide" Target="/ppt/notesSlides/notesSlide1.xml" Id="R977ba1905d574d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434254ded4837" /><Relationship Type="http://schemas.openxmlformats.org/officeDocument/2006/relationships/notesSlide" Target="/ppt/notesSlides/notesSlide2.xml" Id="Rc9c0cd9b7ccb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43ef2f93b4a75" /><Relationship Type="http://schemas.openxmlformats.org/officeDocument/2006/relationships/notesSlide" Target="/ppt/notesSlides/notesSlide3.xml" Id="R4bd5656bbd6d49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31af98f294e75" /><Relationship Type="http://schemas.openxmlformats.org/officeDocument/2006/relationships/notesSlide" Target="/ppt/notesSlides/notesSlide4.xml" Id="R4991130bed4d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9077848364ed9" /><Relationship Type="http://schemas.openxmlformats.org/officeDocument/2006/relationships/notesSlide" Target="/ppt/notesSlides/notesSlide5.xml" Id="R0616c21c0fc5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e0c7019bc4294" /><Relationship Type="http://schemas.openxmlformats.org/officeDocument/2006/relationships/notesSlide" Target="/ppt/notesSlides/notesSlide6.xml" Id="Rcff92817376e4c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d2722283e4afb" /><Relationship Type="http://schemas.openxmlformats.org/officeDocument/2006/relationships/image" Target="/ppt/media/image.png" Id="R4824ec1b63954664" /><Relationship Type="http://schemas.openxmlformats.org/officeDocument/2006/relationships/image" Target="/ppt/media/image2.png" Id="Reec9fdc29eb74e84" /><Relationship Type="http://schemas.openxmlformats.org/officeDocument/2006/relationships/image" Target="/ppt/media/image3.png" Id="R6dd1ecb18637438c" /><Relationship Type="http://schemas.openxmlformats.org/officeDocument/2006/relationships/image" Target="/ppt/media/image4.png" Id="R2e2417e139a64771" /><Relationship Type="http://schemas.openxmlformats.org/officeDocument/2006/relationships/notesSlide" Target="/ppt/notesSlides/notesSlide7.xml" Id="Rf910c57e5502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4091bcbdb4513" /><Relationship Type="http://schemas.openxmlformats.org/officeDocument/2006/relationships/notesSlide" Target="/ppt/notesSlides/notesSlide8.xml" Id="R71120bec37024e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e685ae38b43fd" /><Relationship Type="http://schemas.openxmlformats.org/officeDocument/2006/relationships/notesSlide" Target="/ppt/notesSlides/notesSlide9.xml" Id="R72e8f72ceff947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aa1a3ccf049d9" /><Relationship Type="http://schemas.openxmlformats.org/officeDocument/2006/relationships/image" Target="/ppt/media/image5.png" Id="R2a92c42c5cc04197" /><Relationship Type="http://schemas.openxmlformats.org/officeDocument/2006/relationships/notesSlide" Target="/ppt/notesSlides/notesSlide10.xml" Id="R0b7f75f1f8dd41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93961fd1a451b" /><Relationship Type="http://schemas.openxmlformats.org/officeDocument/2006/relationships/image" Target="/ppt/media/image6.png" Id="Rc77745caff7246b5" /><Relationship Type="http://schemas.openxmlformats.org/officeDocument/2006/relationships/notesSlide" Target="/ppt/notesSlides/notesSlide11.xml" Id="Rbd226eeca1534f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da53dbbcd40f5" /><Relationship Type="http://schemas.openxmlformats.org/officeDocument/2006/relationships/image" Target="/ppt/media/image7.png" Id="R632282ed5d2b4da2" /><Relationship Type="http://schemas.openxmlformats.org/officeDocument/2006/relationships/notesSlide" Target="/ppt/notesSlides/notesSlide12.xml" Id="Rb5a1c06c057b41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7fd055434274" /><Relationship Type="http://schemas.openxmlformats.org/officeDocument/2006/relationships/notesSlide" Target="/ppt/notesSlides/notesSlide13.xml" Id="R7996c0916d69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defd30c6b4d8c" /><Relationship Type="http://schemas.openxmlformats.org/officeDocument/2006/relationships/notesSlide" Target="/ppt/notesSlides/notesSlide14.xml" Id="R3864b67d91c543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b226f57a04551" /><Relationship Type="http://schemas.openxmlformats.org/officeDocument/2006/relationships/notesSlide" Target="/ppt/notesSlides/notesSlide15.xml" Id="R175a6182136147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8c15a27324d9c" /><Relationship Type="http://schemas.openxmlformats.org/officeDocument/2006/relationships/notesSlide" Target="/ppt/notesSlides/notesSlide16.xml" Id="R15f342b609e84c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61d9ab4814171" /><Relationship Type="http://schemas.openxmlformats.org/officeDocument/2006/relationships/notesSlide" Target="/ppt/notesSlides/notesSlide17.xml" Id="R34f6525df2714d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e073e27204f49" /><Relationship Type="http://schemas.openxmlformats.org/officeDocument/2006/relationships/notesSlide" Target="/ppt/notesSlides/notesSlide18.xml" Id="Rb6368529f14c4a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544de3834486" /><Relationship Type="http://schemas.openxmlformats.org/officeDocument/2006/relationships/notesSlide" Target="/ppt/notesSlides/notesSlide19.xml" Id="R131ed349e1654e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48b642eb94c19" /><Relationship Type="http://schemas.openxmlformats.org/officeDocument/2006/relationships/notesSlide" Target="/ppt/notesSlides/notesSlide20.xml" Id="R50340ce1e31a448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8baef089b4b11" /><Relationship Type="http://schemas.openxmlformats.org/officeDocument/2006/relationships/notesSlide" Target="/ppt/notesSlides/notesSlide21.xml" Id="Re0cd4529d6da4c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45437a0bf498f" /><Relationship Type="http://schemas.openxmlformats.org/officeDocument/2006/relationships/notesSlide" Target="/ppt/notesSlides/notesSlide22.xml" Id="Racb79d3e906b48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07d671707472c" /><Relationship Type="http://schemas.openxmlformats.org/officeDocument/2006/relationships/notesSlide" Target="/ppt/notesSlides/notesSlide23.xml" Id="R0f52bf3d069546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64ee08b024604" /><Relationship Type="http://schemas.openxmlformats.org/officeDocument/2006/relationships/notesSlide" Target="/ppt/notesSlides/notesSlide24.xml" Id="R8fd18d58e242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9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36583-5C07-4D57-A467-D4886C8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HEALO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F0E5-52BA-48CD-BF3D-0B2E1F90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정량 부진을 숨기지 않고,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계속 지원의 근거를 증명합니다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FC0A3-592E-4EB6-B87D-4645255A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9530-20A8-4549-9869-FD0CDAD2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DE3E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E3EA"/>
                </a:solidFill>
                <a:latin typeface="Malgun Gothic"/>
                <a:ea typeface="Malgun Gothic"/>
                <a:cs typeface="Malgun Gothic"/>
              </a:rPr>
              <a:t>카자흐스탄 암환자 대상 ICT 기반 사전상담·사후관리 통합 의료연계 서비스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DE3E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E3EA"/>
                </a:solidFill>
                <a:latin typeface="Malgun Gothic"/>
                <a:ea typeface="Malgun Gothic"/>
                <a:cs typeface="Malgun Gothic"/>
              </a:rPr>
              <a:t>중간평가 발표자료 · 발표일: [확인 필요: 평가일]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9629E-CD17-4BDD-B25E-5A6ADF6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C9D1D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9D1DA"/>
                </a:solidFill>
                <a:latin typeface="Malgun Gothic"/>
                <a:ea typeface="Malgun Gothic"/>
                <a:cs typeface="Malgun Gothic"/>
              </a:rPr>
              <a:t>주관 본로이 · 참여 면력한방병원, 신촌면력한방병원</a:t>
            </a:r>
          </a:p>
        </p:txBody>
      </p:sp>
    </p:spTree>
    <p:extLst>
      <p:ext uri="{BB962C8B-B14F-4D97-AF65-F5344CB8AC3E}">
        <p14:creationId xmlns:p14="http://schemas.microsoft.com/office/powerpoint/2010/main" val="19177466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84D50-D081-4121-85D1-3336CD88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평가는 ‘계속 지원할 만한가’를 묻습니다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6EE1D-90C2-43AF-BBCC-3DD46E54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발표 20분, 질의 10분 안에 네 평가항목을 모두 방어해야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D263-AC5F-47D2-87AB-B534FF15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94777-5AE4-4B38-96C6-DB9616E9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655C2-9B49-4EF2-A54A-3F4C284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476500" cy="1524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93C72-12C8-4537-9747-C4E7426B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사업 목적 및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844B1-612F-4896-9836-D0DA7D7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당초 범위 준수, 수익모델의 구체성, 유치업자와 의료기관의 역할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15873-4B5E-49E0-AD77-F47CF54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76500" cy="1524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EFF45-C838-4A1D-BC65-A976705B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81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rPr>
              <a:t>사업 추진 실적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C1120-BA71-430D-91B6-7294483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4315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플랫폼 구축, 상담 처리, 파트너 접점, 계약·MOU, 예산 집행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C7877-9270-4FB0-B7FB-586F64C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476500" cy="1524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AA196-C39F-48F8-B8FD-752B1836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향후 추진계획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8702E-22F1-4A41-8564-C11C50C9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모수 확대, 환자군 재설정, 보험·직접유입 채널, 월별 실행 가능성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5293F-F200-495D-B228-5B948B1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476500" cy="1524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59327-0394-486F-B653-3E8ECDC7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81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성과지표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A93DF-3B78-4CBD-90D4-E7AD19A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4315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 0건, 사전·사후관리 7건, 만족도 표본 부족을 정직하게 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F75DA-97B6-4115-98B4-9A23C6B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70점 이상이면 계속 지원 및 잔금 30% 교부, 70점 미만이면 재평가입니다.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7F741-C799-41D7-9DD9-3399BA01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근거: 중간평가 계획(안), 사용자 제공 프롬프트</a:t>
            </a:r>
          </a:p>
        </p:txBody>
      </p:sp>
    </p:spTree>
    <p:extLst>
      <p:ext uri="{BB962C8B-B14F-4D97-AF65-F5344CB8AC3E}">
        <p14:creationId xmlns:p14="http://schemas.microsoft.com/office/powerpoint/2010/main" val="15873789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14F95-6134-459E-9B3A-CAE2FFB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사업은 구축 완료에서 유치 전환 검증으로 이동했습니다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8A2DB-BCE0-4B9D-A041-E154FC3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8월 31일 기준, 플랫폼과 운영 기반은 갖췄고 정량 전환은 아직 미달입니다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7DFF0-B778-4042-B3EA-83F7B92D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0987D-FB7D-4994-BF29-63FB82FF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10A6-9452-4462-B324-ED52545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9EF33-3164-4AE3-ABA4-310EB4A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구축 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A345B-42AA-4F3D-8D36-7BA3A2C2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6개 언어, 원격협진, AI 상담, 관리자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31C72-4E9A-4289-B0FE-3F39F00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33625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C02D5-21C5-4F65-8700-3490187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621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DA99C-4E56-4614-99CB-952A6F5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33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사전상담·소견 전달 실측 합계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8889E-D430-4FE6-AA25-A1AF7BC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2333625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42FB6-102E-4F1F-BEE2-A3B156C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621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32FDC-A4FA-4039-A90D-0A65B972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33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외국인환자 유치 확정 실측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69E3A-5C30-43C1-BFEB-22567738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333625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D55E-0E64-4ACD-8FD9-2C5849BC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621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잔여 3개월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3B11B-9C45-45FF-ADCB-2CBDA59C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9~11월 전환 검증 구간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B1418-C258-42CB-96AF-1B5ADB1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핵심 판단: ‘만들었는가’는 통과했고, ‘남은 기간에 전환 가능한가’가 평가의 본질입니다.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957DC-55B7-4E2F-9748-183F894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3991215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1739E2-812C-4593-998A-F1E66E5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성과지표는 정성 구축과 정량 전환이 갈라졌습니다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FAC44-5931-4B2E-81FD-392985C5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0은 0으로, 표본 부족은 표본 부족으로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6EC7B-0CDD-4938-8C98-BEE2E90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E883E-1E9F-40E0-9755-D7D93864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D3EE1-D127-4563-A599-D9ACFB21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EE3B8-2850-48E0-81F1-4055DECB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0B9F-7A0E-4468-A26D-FF5A9CCD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43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7D693-1DFB-4CC0-B514-726454DD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4668F-AEA4-4D95-BDFF-E02AC4A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43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B6561-FDA9-433B-B04B-47A6917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3D92C-165C-4000-92B6-A6CF422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K-01 외국인환자 유치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E289A-7AD4-4431-B189-7BC2BA8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193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12건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B9A86-2FC3-498C-82A9-A47B249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4161E-E482-4E6C-9808-F904051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193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미달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F8C87-AFD3-44EE-9389-6FA59203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0A8A8-31A2-416A-8916-3224D76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K-02+K-04 사전·사후관리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C0164-648E-4508-BE9F-F59F225B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120건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B8B2F-8563-4B73-9AAA-1AE73D5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A3AF7-C5BC-4F64-B47E-D7B8CB0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5.8%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C863A-8350-428B-84A5-CE396159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4A9B4-3D2D-4D43-BB61-D356A46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K-03 만족도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F3036-A878-43BF-B9C5-CFA40E4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71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90점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37A59-4B79-4538-BCD9-E5079A29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2건 응답, 4.90/5.0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2AEFD-5EAC-4E14-AADB-2620E041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참고치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F7771-3A72-45B5-BEE8-5C98B1CA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F596D-4988-45B5-BF27-35F53EC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ICT 체계 구축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7886E-1671-4D05-B4BA-AC235CF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48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플랫폼 고도화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9393A-0ABC-4F48-A598-D6695C4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구현 완료·운영 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06500-DEA0-42F5-8236-8E2B5C3A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48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453D7-05FB-4038-8C82-42CC2FC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5E7E8-19FF-4AF9-BE90-3D503E75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협진 치료모델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EF248-A711-4CFD-86F9-82808636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243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프로토콜 수립·운영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CB8A0-4BB7-4122-83B6-C3029F9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체계 수립, 실제 진료 확인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0692D-4AE5-455C-817C-B91361DF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243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부분 달성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98459F-531A-4439-ADD4-E00E0A4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8209682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0451A-FFFE-426A-A66C-7CAE93F0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유치 0건은 전환 실패보다 ‘얇은 모수’ 문제에 가깝습니다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EA240-F21C-40C7-9CFF-ABD899B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실문의 6건 안에서 병원 검토까지 진행됐지만 입원 확정으로 이어지지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98CFF-60EC-432B-BB7C-074281E1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58D0B-250F-4531-B484-5987430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6A24A-14F7-4CA3-A958-5FEE67F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8097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9D19-F3D9-4FF2-8A74-0E810CB8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6건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EDDCF-CA08-49CE-8D50-FFA52402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실문의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시험데이터 제외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77F5E-FD22-4BC6-ADA9-A54DC5CE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6760D-3DD2-470F-887B-7E476B03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18097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E2FF-1D8E-4FD9-9F1D-E862A73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621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6명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48FCF-A50F-4154-BB0E-4A31571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33675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의무기록 수령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환자 자료 접수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7DEDE-EFEC-4FB9-980C-063B871A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5FD53-E20A-4E70-8F73-04F7EC0D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18097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30FC6-E05D-4F71-ABAE-CF39644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621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6B1C4-0DB0-4BAD-8B0E-F2B1E81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소견·상담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소견서 6 + 화상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5F8F8-8B20-4292-BED5-529B67D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6A395-3953-4027-A100-EAB61464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8097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7E532-DD00-418F-BFD0-EF6940A6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BFB1F-4508-48E8-8057-00FA142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33675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 확정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admitted 실측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F892F-3CB1-4E22-8394-2FE8105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해석의 기준을 바꿔야 합니다: ‘문의를 받아도 전환이 안 됐다’보다 먼저 ‘전환 가능한 문의 모수가 충분히 형성되지 않았다’를 설명해야 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94737-11A2-49F8-A7DE-CC94820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2885856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83CF5-5B6B-4380-9116-A42FF6A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초기 문의는 유치 가능한 표준 케이스가 아니었습니다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18E34-C46C-433D-8350-5D319BC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고난도·중증 문의가 플랫폼 검증에는 의미 있었지만 단기 유치에는 불리했습니다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C2B44-A6AB-4096-9E80-B2DB666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ACF4D-B81C-4AD2-9C1B-35FD1DBA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EFA05-49F7-4DBD-B712-1349946C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CFF3A-285F-4EDB-BB9D-A21F858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28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장기이식·재수술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19D97-BBF1-45F4-86BE-CB02F92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27241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신장이식·간이식 재수술 사례는 공여자 부재와 국내 규정 이슈로 단기 수술 연계가 어려웠습니다.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6DAF2-1071-451E-93FD-9D1E0CA9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3143250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81C1A-F513-44E3-BD2A-2FBF5C38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28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치료 확답의 어려움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464B3-366E-433C-83A9-6277916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90775"/>
            <a:ext cx="27241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대학병원 검토까지 진행했지만, 중증·말기암 사례는 즉시 치료 가능 여부를 확답하기 어려웠습니다.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29E9-878C-42D6-9F57-5DDC2CC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143250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96420-26FE-41A9-AF56-6FDAB21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비급여 비용 부담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F06CF-A82A-462B-A0BA-39BE14A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90775"/>
            <a:ext cx="27241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비급여 치료비가 보험 보장으로 연결되지 않으면 환자 결정이 지연됩니다.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110EC-9A73-4795-8E2D-584BD62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따라서 하반기에는 중증 단일 타깃에서 ‘종합검진·조기암·국내 체류 외국인’까지 전환 가능한 환자군을 넓힙니다.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ACBEA-35FA-42D3-9734-C7B8E6B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4830266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508F7-71EE-43CE-AAED-D2A34D97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HEALO는 사전상담 3종과 사후관리 3종을 구현했습니다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B53C8-C74F-4BCA-8D4F-81E62D5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정성 실적의 핵심은 ‘아이디어’가 아니라 작동하는 운영 화면입니다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58EF8-5580-4F79-9C45-9DC77D23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F6829-249C-4715-98D4-C62D380C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4ec1b63954664"/>
          <a:srcRect xmlns:a="http://schemas.openxmlformats.org/drawingml/2006/main" l="0" t="3600" r="0" b="3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676400"/>
            <a:ext cx="4762500" cy="276225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9fdc29eb74e84"/>
          <a:srcRect xmlns:a="http://schemas.openxmlformats.org/drawingml/2006/main" l="0" t="11713" r="0" b="11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676400"/>
            <a:ext cx="1666875" cy="27622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1ecb18637438c"/>
          <a:stretch xmlns:a="http://schemas.openxmlformats.org/drawingml/2006/main"/>
        </p:blipFill>
        <p:spPr>
          <a:xfrm xmlns:a="http://schemas.openxmlformats.org/drawingml/2006/main">
            <a:off x="8542020" y="1676400"/>
            <a:ext cx="1851660" cy="12858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417e139a64771"/>
          <a:stretch xmlns:a="http://schemas.openxmlformats.org/drawingml/2006/main"/>
        </p:blipFill>
        <p:spPr>
          <a:xfrm xmlns:a="http://schemas.openxmlformats.org/drawingml/2006/main">
            <a:off x="8542020" y="3152775"/>
            <a:ext cx="1851660" cy="12858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266E8-01A5-4F51-B342-BF85D0C9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병원안내·매칭 / 진료의뢰·상담 / 예약상담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경과관찰 / 모니터링·교육 / 재이용 예약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4C4EC-8E1F-4568-BDD9-5C1E4192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근거: 플랫폼 화면 캡처 및 사용자 제공 개발 실측</a:t>
            </a:r>
          </a:p>
        </p:txBody>
      </p:sp>
    </p:spTree>
    <p:extLst>
      <p:ext uri="{BB962C8B-B14F-4D97-AF65-F5344CB8AC3E}">
        <p14:creationId xmlns:p14="http://schemas.microsoft.com/office/powerpoint/2010/main" val="12706676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92FD7-7F1E-4452-AA48-8D7E8A3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플랫폼은 지속 개발 중인 운영 시스템입니다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CFCB-9B5E-43E9-AFEA-CDAF84FC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중간평가 직전 급조가 아니라 6월 이후에도 기능 규모가 증가했습니다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36A58-A1DD-4EE1-822E-5F49665A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1709A-BDEC-4A9F-98E6-7CA6AC49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0FCD8-BFD9-437D-A116-742249F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6215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EFCC1-A222-44ED-B6BF-E502AEED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20.7만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1CBA-00FF-49B1-82BD-44B41B9D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소스코드 LOC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1,022개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7861E-810E-4AAC-968A-FAC5CCB2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96215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81BCE-6334-4421-82C6-7DF72D81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rPr>
              <a:t>229개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D0D91-8FDE-4AEF-B778-C0EEFD7C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서버 기능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API 엔드포인트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8964-7257-49D2-B634-01D777D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96215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EFFA-7AE9-453A-99F8-84C75DC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140개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A1702-AB90-42CE-8AEE-9F01018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화면 페이지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6개 언어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11E84-BA6D-436F-831B-845C7237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96215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AB85C-43CA-4877-A02D-719E853E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159개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BBFC1-09AA-4371-B2DC-608098E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DB 변경이력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마이그레이션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3C374-92B6-4618-9DF0-4E17F158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962150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277BB-E058-4DD9-84A0-C36B9604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213개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77533-D00A-4EE3-8F48-1A93573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자동화 테스트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품질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B9E7A-F43B-4EE2-937E-B590B808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271D2-9271-43C8-8D15-B56E9A2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1C7C6-DB07-4969-A2A9-3318022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2026.06.21 13.5만 LOC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6606A-6B4B-43D3-B37B-3E827CF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2026.08.31 20.7만 LOC · 약 +53%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613FC-E4BE-405C-9A88-0485FD3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86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운영 중 기능이 커졌고, 성과지표 자동 집계·AI 품질 채점까지 포함합니다.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BD67A-7EC5-40A2-9085-BA6E712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9307880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528C8-FDD2-48C2-A3B0-B369C7A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의료정보를 다루는 운영통제까지 구축했습니다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57F2-C415-4300-97BF-72F457B1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환자 개인정보, 권한, AI 품질, 성과지표 집계를 관리하는 구조입니다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A94D2-E925-4EF3-9D2B-F0783AAF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DD112-CA58-46BB-BEC0-9227E21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27F40-BC15-4911-9661-7BE3756B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2D45E-803A-48DB-9683-836DE70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71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31BE-917B-4D19-A319-7D376A1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52675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관리자·코디네이터·병원·에이전시·환자 5종 권한으로 업무 범위를 분리했습니다.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FC281-AE52-458E-A67C-A1EAB80B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AF552-18ED-4EB7-A94C-D2883A6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개인정보 보호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57355-7F71-46B9-BFA7-7AC4A27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76675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환자 개인정보 AES-256-GCM 암호화와 전 테이블 RLS를 적용했습니다.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A2AAB-F542-4004-B960-DA9C2960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7A0C9-8867-4DA5-9F89-9F01416A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AI 품질관리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B7353-F55E-46BA-BAF0-09A5B456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52675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AI 응답의 환각·안전 위반·응답시간 P95를 매일 자동 점검합니다.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72304-49D2-4586-BE98-4D44E51E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A9D50-6094-4B57-A902-190B686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95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성과 자동집계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84CC8-A28E-4F87-A294-28D1A779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76675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K-01, K-02, K-04와 유치 전환 깔때기를 관리자 화면에서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F796A-4AA0-4482-B82C-F717FF78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플랫폼은 홍보용 웹사이트가 아니라 환자 상담과 사후관리 데이터를 운영하는 업무 시스템입니다.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13FF6-3E3E-4C13-B9E6-C3C495CE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7798219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95D53-3DD3-48F1-BB9F-4FBCE01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사전상담은 의무기록 수령부터 환자 언어 전달까지 닫힌 흐름입니다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5F1E5-33E0-4754-8555-5AA6BA1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의료진 소견서 6건과 화상 사전상담 1건이 현재 실측 기준입니다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FF823-BC38-4703-96E8-D1FB5F4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E1F34-2EC3-4AFC-AE71-B080E33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A117B-EBAD-44B0-8F12-EE3DB1F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1945-F0E1-4839-9329-096F940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81175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의무기록 접수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20D87-B050-4659-9F56-7ED4090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62175"/>
            <a:ext cx="21240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러시아어 등 현지 의무기록을 받아 번역·정리합니다.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854E3-D106-43AB-BC95-C6F574B2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4B74D-F04A-4702-A4B8-8A2E0E1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국내 의료진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F3559-FB3B-4973-A87B-571758F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0425"/>
            <a:ext cx="21240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협진 상급종합병원과 참여병원에 치료 가능성을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8889E-CE94-42D2-A72E-EB14AFB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57A06-6CDD-4B26-9BC2-83978F8A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환자 언어 전달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3C7AE-17F9-4E1E-BFE0-4566180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1240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회신 소견을 환자 언어로 다시 옮겨 치료 가능성과 비용 범위를 안내합니다.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2c42c5cc04197"/>
          <a:stretch xmlns:a="http://schemas.openxmlformats.org/drawingml/2006/main"/>
        </p:blipFill>
        <p:spPr>
          <a:xfrm xmlns:a="http://schemas.openxmlformats.org/drawingml/2006/main">
            <a:off x="6290450" y="1714500"/>
            <a:ext cx="3230599" cy="3476625"/>
          </a:xfrm>
          <a:prstGeom xmlns:a="http://schemas.openxmlformats.org/drawingml/2006/main" prst="roundRect">
            <a:avLst>
              <a:gd name="adj" fmla="val 164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F5AE7-7397-4DF8-9648-E6BCE7A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근거: 실DB 2026-08-31, 개인정보 가림 소견서 이미지</a:t>
            </a:r>
          </a:p>
        </p:txBody>
      </p:sp>
    </p:spTree>
    <p:extLst>
      <p:ext uri="{BB962C8B-B14F-4D97-AF65-F5344CB8AC3E}">
        <p14:creationId xmlns:p14="http://schemas.microsoft.com/office/powerpoint/2010/main" val="1115263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32D00-15FB-45FF-8FF7-740AD0D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원격협진은 진료가 아닌 상담·정보제공 범위에서 실증했습니다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EBD90-87DD-42D1-A9D9-6A50A31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2027년 5월 시행 전까지 법적 표현을 분명히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88BC9-D0C6-4F3B-A61E-8911241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020EC-47FE-46AB-AADA-AC74EC8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745caff7246b5"/>
          <a:srcRect xmlns:a="http://schemas.openxmlformats.org/drawingml/2006/main" l="5759" t="0" r="5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695450"/>
            <a:ext cx="5905500" cy="3333750"/>
          </a:xfrm>
          <a:prstGeom xmlns:a="http://schemas.openxmlformats.org/drawingml/2006/main" prst="roundRect">
            <a:avLst>
              <a:gd name="adj" fmla="val 17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E0898-D562-4754-ADDC-FD012FC9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90700"/>
            <a:ext cx="371475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51389-E46E-4094-98B0-929FFA03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621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현재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6CFDD-3BB0-4842-B17C-AF2A6A2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241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사전상담, 정보 제공, 치료 가능성 검토, 원격협진 시스템 실증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43FFB-0A8D-45EE-9276-CBA6A9F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00400"/>
            <a:ext cx="371475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A1942-43C3-4902-83E7-C033E0A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718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피해야 할 표현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50CDC-77A0-4746-9594-3DCF084A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338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온라인 진료 제공, 원격진료 완료, 초진·처방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7B1E3-3693-462A-B611-64C2F7E9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38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진료 주체는 유치의료기관 소속 의사이며, HEALO는 플랫폼·유치업자로 구분합니다.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8D250-20D3-413E-A89B-6608BD0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근거: 의료해외진출법 개정 시행 전 법령상 표현 제한</a:t>
            </a:r>
          </a:p>
        </p:txBody>
      </p:sp>
    </p:spTree>
    <p:extLst>
      <p:ext uri="{BB962C8B-B14F-4D97-AF65-F5344CB8AC3E}">
        <p14:creationId xmlns:p14="http://schemas.microsoft.com/office/powerpoint/2010/main" val="16658626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EFC03-C3A9-442B-B81C-6CC87B7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해외 파트너 접점은 실제 계약·MOU로 일부 전환됐습니다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C3916-1C3E-4F8C-A285-C23F9FC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다만 집계 기준은 15건 회의, 4건 계약·MOU로 보수적으로 맞춥니다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64F2F-6307-4957-AE59-86479ECF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50C26-20C5-4EB2-A76D-0318AAD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C48C9-E8EB-4A6F-8BA9-9447FF3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238375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F82B2-9270-4E35-B7CE-88968F55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15건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5CF7C-6873-4363-8B5C-AC50995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해외 파트너 회의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회의록 원본 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C1997-2137-4FFD-9B9A-EB809C0A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05000"/>
            <a:ext cx="2238375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71F1-F410-49D6-86A7-E8D22D60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rPr>
              <a:t>4건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0D1C0-6782-4C4E-B06A-ACF909F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계약·MOU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MedicaTour, UMIT, GHO, MedVoyage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5EC0A-09F4-4E42-8180-FE3FF70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2238375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1542A-D712-439D-9A8A-EAD1B2EB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14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8곳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CB67C-055F-48D6-B77C-6FD6812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시스템 등록 병원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BEC82-CB7F-4D3D-9EB1-C4FC7CC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2238375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DFB5A-943B-4B21-9A76-0A4F80C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14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16건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129A3-03F5-410B-A82F-268A5E3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파트너 화상 미팅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완료 2, 예정 14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282ed5d2b4da2"/>
          <a:stretch xmlns:a="http://schemas.openxmlformats.org/drawingml/2006/main"/>
        </p:blipFill>
        <p:spPr>
          <a:xfrm xmlns:a="http://schemas.openxmlformats.org/drawingml/2006/main">
            <a:off x="3742211" y="3857625"/>
            <a:ext cx="4707578" cy="1428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AD1E6-12B0-42C7-A8DC-61069BE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7611083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FA42D-CD0F-41E7-8FF4-1E7D289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카자흐 시장을 ‘성장 시장’으로 단정하지 않습니다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1EE15-A647-4925-BAED-52CFFFA7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불리한 통계를 회피하지 않고, 치료형 고액 수요의 좁은 기회로 설명합니다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B645E-D6A1-4354-A0ED-FFA0A76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EA4B-5E34-425C-AB53-6F8F1DBC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BD909-6C9E-4113-BA49-6DA4B78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B975-D654-442B-A7CD-8FDBF355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불리한 사실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CB891-5BC3-4D19-8A55-04439B3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343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카자흐스탄은 2025년 외국인환자 15,188명으로 순위가 11위에서 13위로 하락했고, 증가율도 상위 15개국 중 낮은 편입니다. 러시아도 순위가 9위에서 11위로 내려갔습니다.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74BFB-2C22-49EC-B10C-76CFF6E5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BAD20-C531-4C6A-B6C6-2EF53AE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그래도 보는 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D28D5-A69B-4009-BAB2-51D3DF4D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343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KHIDI 자료는 러시아·중앙아시아 중증암환자 비중, 긴 재원일수, 에이전시 경유율을 제시합니다. 즉 대중 시장 확대가 아니라 치료형 고액 수요의 좁은 통로를 검증하는 사업입니다.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47BBC-2091-4E8B-9A92-17EEF7FB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표현 원칙: ‘CIS 시장이 커진다’가 아니라 ‘중증·치료형 수요에 맞는 비대면 사전상담 통로를 검증한다’입니다.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935B3-A127-4595-972E-9234C8C6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근거: 복지부 보도자료, KHIDI 비즈니스 가이드, 사용자 제공 프롬프트</a:t>
            </a:r>
          </a:p>
        </p:txBody>
      </p:sp>
    </p:spTree>
    <p:extLst>
      <p:ext uri="{BB962C8B-B14F-4D97-AF65-F5344CB8AC3E}">
        <p14:creationId xmlns:p14="http://schemas.microsoft.com/office/powerpoint/2010/main" val="9228174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A3B7F-64D6-42A7-8F28-F6F702B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수익모델은 법정 유치수수료 한도 안에서 설계했습니다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4F31A-74B7-43BF-AC19-111AF40D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플랫폼은 의료행위를 대체하지 않고 유치·상담·사후관리 운영을 지원합니다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D8989-D0A6-4D42-8799-BDF4CE08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9F22-0C4E-4BAD-B2A6-9BE3062E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9211B-4F81-4565-8364-52B7493F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238125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2C923-81DC-4891-8E38-ABEFFF8E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유치수수료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9BA04-152E-43F3-8A99-29F8129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치료비의 15~30%. 상급종합 15%, 종합·병원 20%, 의원 30% 법정 상한을 넘지 않게 설계합니다.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36016-799E-48C6-9F48-CD28E046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38125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39140-F7D1-4EE0-8F7E-B510095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rPr>
              <a:t>플랫폼 이용료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6671D-8950-4DA3-B889-8030F5D6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월 50~100만원/기관. 병원·에이전시가 상담, 번역, 성과관리 기능을 이용하는 구조입니다.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C144-12FA-4570-92BF-C7E80763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238125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1CE37-25A9-424E-96A0-90F7EDC3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의료관광 패키지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8F162-903A-4090-B7CD-83EDFEA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건당 100~200만원. 통역, 숙박, 일정관리 등 비의료 서비스 중심으로 범위를 구분합니다.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7786E-0AA1-402A-830F-AE9BC70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수익모델의 핵심은 진료 수익이 아니라, 유치 경로와 사전·사후관리 운영을 표준화하는 데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B6F93-0D53-41B9-8DEE-D7D3364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3522322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FB390-A248-427F-99A9-992F0BC3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사업비는 개발비 외주 없이 플랫폼 구축에 집중됐습니다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6101-649D-44E0-9036-84E02520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집행률은 회계자료 확정 전까지 확인 필요로 남깁니다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B11D5-AF21-4380-96F7-DE121F1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655F-A8C9-434B-BF0A-FB1CA6D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CD73B-63BA-4101-A59A-C4EF1DEC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3433D-D3AE-4454-B548-A17BDE3E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87,500천원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A11E2-8C53-4BC5-8EF1-E9A3D66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총사업비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D9D8C-CA8B-409A-A9FA-8DE573C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57375"/>
            <a:ext cx="23812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4EE2-217D-43A6-9C15-FE3C195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669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70,000천원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5115-567A-4387-A698-50D3059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384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정부출연금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본로이 42,000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6CDB9-9176-4383-8667-BDD0EC63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23812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BD57A-ABCB-4C38-B1EC-CC63645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B8A82"/>
                </a:solidFill>
                <a:latin typeface="Malgun Gothic"/>
                <a:ea typeface="Malgun Gothic"/>
                <a:cs typeface="Malgun Gothic"/>
              </a:rPr>
              <a:t>17,500천원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0D2FA-D40E-450C-BF0A-9AF89B3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자부담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현금 4,375 / 현물 13,125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94858-7482-43E0-95AD-B8D1F2FD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238125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EC347-AF9C-432E-9AE4-24C1C90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0원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70037-196E-48F7-8411-28F442FB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384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외주 개발비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자체 개발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E1B46-0266-41B7-9B07-73F28F9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42862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7B7EC-B15E-4D89-9AF7-6AD8F8E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확인된 집행·승인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1ECDA-1E44-483E-9E8A-EB84C30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홍보비 7,700,000원 사전승인, 비목 변경 승인, 회계법인 중간정산 제출 완료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334C2-4753-44EA-957D-35CF299C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2862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F3C98-6736-4991-AAA3-FE22E98A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발표 전 확인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89BE8-272C-4975-993F-D9F4B53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실제 이체 실행 여부, 해외 클라우드 원화 청구액, 총 집행률, 회계검토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7D203-49DA-46BB-9F00-C385C8E3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집행률은 확인 필요 항목으로 처리</a:t>
            </a:r>
          </a:p>
        </p:txBody>
      </p:sp>
    </p:spTree>
    <p:extLst>
      <p:ext uri="{BB962C8B-B14F-4D97-AF65-F5344CB8AC3E}">
        <p14:creationId xmlns:p14="http://schemas.microsoft.com/office/powerpoint/2010/main" val="754823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37E7A-615C-4399-9E5D-C7A5169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계획 대비 실적은 ‘구축 완료, 유치 전환 미달’로 정리합니다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98036-2C8E-4EF3-A5ED-B8BA9F8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평가위원이 보는 핵심 기준을 먼저 표로 맞춥니다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F77E-1D3E-4943-ADC1-EDF273E3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6B0AC-844D-40CC-A891-B7411B8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E5CA9-79F0-474A-A342-1411908A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07D5-B9B8-4A7C-89A4-0C8B7704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DAAA-1A9B-4251-AB16-2E8D93A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답변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004E0-0FE4-462B-BF94-D110FCB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89784-7849-4417-A08C-81E3112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사업목적·범위 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484F8-5E65-4E4C-9552-F413F34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카자흐스탄 암환자 대상 사전상담·사후관리 플랫폼 구축 범위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9894E-CFEF-4111-81B4-1342522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11C6-9579-4103-B4C4-82A8A793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사업추진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E8575-616B-4A0B-BFE2-A360D2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6개 언어, AI 상담, WebRTC, 관리자 시스템, 보안·성과 집계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EB2CF-2160-422F-90D4-7C28C528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E5556-7F93-4194-8391-82B3179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계획 대비 추진실적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5C299-6B7C-4AD8-9A5B-01AF0053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구축·협진·파트너 실적은 확보, 유치·사후관리 정량은 미달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325DC-C654-4357-AB02-64A5332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327C2-DD63-4C5F-BA73-7CDFA39C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사업비 집행실적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C9E45-07D4-43AD-8DAD-8CAC16C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승인·정산 자료 제출 완료, 총 집행률은 회계 확인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BDBA0-99E5-4A85-903A-BB1E045B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3FA05-DC0B-469A-A9D3-01DBA553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회계검토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2E5F3-F6A4-4ED1-9142-C9E9EE2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2026-08-10 제출, 검토 결과 확인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1E128-C893-476A-BF61-E0C6E7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9103621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8D56E-4717-41C1-AE9D-A5EC5E9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전환 제약 요인은 세 가지로 압축됩니다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77F28-695A-4CE7-B3C9-EA6B736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외부 탓이 아니라 하반기 전환 전략을 바꾸는 근거로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8D9E2-E661-4BC2-A267-949F235D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54897-DE6E-4FC6-A2CE-3FEB7AB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069D6-685F-429D-8732-D7110FD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9B7B7-4AD1-46BB-842B-4D17F75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고난도 환자 편중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2017B-EBBC-4A48-A47B-B95F0F67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7241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초기 문의가 장기이식·말기암 등 단기 유치가 어려운 케이스에 몰렸습니다.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D1F9A-A063-4619-BC7C-4A58D47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46A23-D1E1-47DD-ADA9-8A65E3AA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45B00"/>
                </a:solidFill>
                <a:latin typeface="Malgun Gothic"/>
                <a:ea typeface="Malgun Gothic"/>
                <a:cs typeface="Malgun Gothic"/>
              </a:rPr>
              <a:t>기존 송출망 고착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B3D78-C8DB-4AD7-96AB-884D78C7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7241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현지 에이전시는 이미 한국 협력병원 또는 인도·튀르키예 선택지를 보유하고 있었습니다.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1F1F6-5E14-414C-AE68-786E873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39CA7-3F76-4081-A3AE-6E02DA17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보험 보장 한계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0558-2839-4900-B2C6-AAA266AD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7241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비급여 치료비가 보험 보장으로 연결되지 않을 때 환자 결정이 지연됩니다.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37DDC-5616-4DA5-997C-5EA47002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따라서 대책은 ‘더 열심히 영업’이 아니라, 환자군·유입경로·보험 채널을 동시에 바꾸는 것입니다.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28F71-458A-4B23-91AC-F41974C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4031917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F9FB8-1279-4334-9152-0B5241CB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남은 기간에는 환자군과 유입경로를 동시에 바꿉니다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CE474-4ED3-4D20-95F2-DAEB264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모수 확대 없이는 12건 목표를 방어할 수 없습니다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E9B40-3543-458D-9999-34742E9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B33A3-07B8-4818-AD6F-4A5E71A7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E768D-4951-401B-BE0F-600F244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55986-B48C-4780-8EBC-6FFBC60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71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전환 가능한 환자군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FA5FE-06E5-4F49-BC08-5B7A5EDB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5267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종합검진·조기암·국내 체류 외국인까지 유입 대상을 넓힙니다.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10E8F-003C-4605-A219-402EB63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1D7B-7F87-4C6A-B977-D0808161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95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직접 유입 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62854-3A15-4873-B167-B83A79C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7667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현지 검색광고와 러시아·CIS 콘텐츠로 에이전시 의존도를 낮춥니다.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E8B60-7FB4-4C67-9D06-D36461A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416AF-0976-454C-ACDF-693272B3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71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보험사 채널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2AB4B-E955-49A3-8C2C-0D54074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5267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Madanes 등 보험 가입자 연계와 보험 안내 페이지를 활용합니다.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18749-04FF-487D-8180-65A6420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766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5BF81-2E7E-43C6-AEB7-8C66F480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95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사후관리 실증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7FDF0-CA46-4397-9462-07F35FEC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7667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첫 유치 이후 자동 안내, 만족도, 현지 경과관찰 데이터를 수집합니다.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7AE94-2DC0-4AE8-AF45-267AC295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목표는 단순 홍보량 확대가 아니라, 유치 가능한 문의 모수를 빠르게 만드는 것입니다.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3826B-AE08-44B9-BC1C-8E70409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194033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087DE-FBD2-4556-A021-47CA7D3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9~11월은 광고 집행보다 전환 검증 일정입니다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E7627-575F-45B0-8BAD-0C98094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확정이라고 단정하지 않고, 단계별 증거를 쌓는 일정으로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6EE2-79F1-451F-AB06-8FD249A0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34195-5F6D-403B-BB5B-D24A3278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473B7-0A91-4359-9022-DF6E769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E33A0-8831-486A-BB00-55B3541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C5B7E-B8AD-458E-919A-F1D0146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EE6B7-C134-4182-89FE-22A4B8C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유입 모수 확대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D0240-3B8A-4291-8EDB-BB176DA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528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검색광고·콘텐츠 광고 시작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전환 가능한 환자군 테스트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3A1D8-2796-4872-BC86-483DA206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29126-2514-44D0-8CF7-1CC06A0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EE399-BCC9-4634-91FF-14F6A03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첫 전환·사후관리 실증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97868-4974-4F09-91B1-70CA5B1A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528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실환자 자동 안내 적용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만족도 설문 수집 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A9129-28B9-4BC1-A630-987F9877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0FCFD-B557-4379-A0A2-F6A05C5F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11월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7C1B-1C08-42DA-995C-103800D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성과 정리·최종보고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2F6EC-9165-4FAD-939F-2CAA8D8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유치·상담·사후관리 실적 정리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UMIT 현지 경과관찰 데이터 수집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01390-F933-4601-AF09-C062A3FD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사업기간: 2026년 4월 ~ 2026년 11월 20일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EE6CD-7C23-4198-AC0A-8D78EBC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2252552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3C3AE-8384-4FF8-ABAA-1D9BF47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평가위원의 우려는 세 문장으로 먼저 답합니다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F1CAA-ABC0-49B0-AA5C-CDC945C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질문을 기다리지 말고 발표 안에서 선제 대응합니다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E3083-6355-4CB9-88E1-C56717D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B796-2777-4BD5-A438-C053D2B1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207D2-2986-42CC-A836-FB367EC7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5351-35AD-42F4-8953-26EADA7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유치 0건인데 계속 지원 가치가 있는가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57497-FF79-4558-84FC-655D751F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38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 0건은 인정합니다. 다만 정본 실문의가 6건으로 얇았고, 구축·상담·파트너 기반은 확인됐으므로 하반기는 전환 검증에 집중하겠습니다.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EF064-0473-4B01-919D-D1B8555E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8CCE6-F630-46CC-B3F8-9E9866F0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19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기존 의료관광 에이전시와 무엇이 다른가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F0DC2-A8BE-4344-903B-227BB603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62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일회성 송출 중개가 아니라 의무기록, 다국어 상담, 원격협진, 사후관리, 성과집계를 하나의 운영 흐름으로 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74A7C-942F-4684-BD0A-CA8ED001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94E18-14D7-44C3-B937-7AEBB93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지원금 7,000만원 대비 산출이 무엇인가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63147-E0EA-4050-926E-A3B76CB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38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20.7만 LOC, API 229개, 140개 화면, 6개 언어, 보안·AI 품질·성과집계 시스템까지 구축했습니다.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09A4F-BB8E-4803-9D5A-D40FADF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B138-72B5-44A2-BD66-0BC67C5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19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온라인 진료를 하는 것인가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BF687-39D8-4572-B0AD-9C5A85B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562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아닙니다. 현재는 사전상담과 정보 제공 범위이며, 진료 주체는 유치의료기관 소속 의사입니다.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19FF9-A10E-47DD-8B62-66606B9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278092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8D591-FFA4-419A-B992-010D08F6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계속 지원의 근거는 완료된 기반과 검증 가능한 수정계획입니다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A6577-553F-40EC-8A52-53C0E06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잔금 30%는 유치 전환 실험을 완결하는 데 투입됩니다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13A14-DAB5-47D1-A6CE-809BF267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8ECC-91AF-4237-B03D-F0CCB29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824DA-B705-420B-9CEE-30395887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이미 완료한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7C7F2-CDD2-492E-8481-A2AA1AC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플랫폼 구축 · 6개 언어 · 원격협진 · AI 상담 · 보안/권한 · 성과 자동집계 · 파트너 접점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3CCFE-D488-4458-BF5A-B1F2C0D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부족한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EF9A4-964F-4B5F-8962-AD9FA391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 확정 0건 · 사후관리 0건 · 만족도 표본 2건 · 총 집행률 확인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BA64F-44B5-4952-B9B6-3947866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잔여기간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DC848-B5E9-4CB7-A63C-1CFC2098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28875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전환 가능한 환자군 확대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직접유입 검색광고·콘텐츠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보험사 채널 연계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첫 유치 후 사후관리 실증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298DA-5572-4D3B-8223-D7547F2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5CBE4-B9DB-4344-A5CB-4550862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판단 요청: 구축 기반을 전환 실적으로 연결할 수 있도록 계속 지원이 필요합니다.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D4C44-3F37-474A-BDDF-8B52890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207459539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CE96B-A620-4865-BA27-C6C1792D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부록: 핵심 예상 질의응답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AFAA4-2CEC-4FC7-B4BD-17567915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유치 0건, 차별성, 지원금 대비 산출은 반드시 먼저 준비합니다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4A0C1-0F13-4F44-850E-9849B36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1E329-AC24-481F-868A-6FABEC04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B789D-10FD-4A5A-83C6-43B683CC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9A6BE-B361-4877-808B-C35A0C0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유치 실적이 0건인데 이 사업이 계속 지원받을 가치가 있습니까?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9330B-DC4E-4607-83A4-5F324F4D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0건은 인정합니다. 그러나 시험데이터를 제외한 실문의가 6건으로 아직 모수가 얇고, 그 6건은 의무기록 접수와 병원 검토까지 진행됐습니다. 잔여기간에는 환자군과 채널을 바꿔 전환 모수를 만드는 데 집중하겠습니다.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D6A94-6BE1-45A7-9CE4-C1EFF9D7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FA7FD-AFE6-489C-86F7-8B98A2A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기존 의료관광 에이전시와 무엇이 다릅니까?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F7B78-13C3-4994-9F55-65DFB990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기존 에이전시는 송출 중심이지만 HEALO는 사전상담, 의무기록 번역, 원격협진, 사후관리, 성과지표 집계까지 운영 데이터로 묶습니다. 사람 상담 기록을 AI 학습자료로 축적하는 점도 차별점입니다.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FE69D-9D79-417A-BDBC-25A3BD5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0AF79-0C54-4545-A887-1741D86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지원금 7,000만원 대비 산출이 무엇입니까?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672B8-557A-4D55-B2AE-CD6018BB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20.7만 LOC, API 229개, 화면 140개, DB 마이그레이션 159개, 테스트 파일 213개 규모의 운영 시스템을 구축했습니다. 외주 개발비 없이 자체 구축했고, 보안과 AI 품질관리까지 포함했습니다.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8B79B-13F5-470C-B156-4E5CF171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7C33B-CBC6-49E0-8CD3-3606FA95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사전상담 7건은 왜 목표 120건 대비 낮습니까?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73F30-1671-4C09-8703-B368B29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목표는 유치 12건에 대해 사전 5회와 사후 5회를 합산한 구조입니다. 유치가 아직 0건이므로 사후관리 실적도 0건이며, 현재는 실제 문의 6건에서 가능한 사전상담과 소견 전달만 집계했습니다.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BCBB9-7A77-4F16-A25B-DD78141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1034695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BC074-CE7F-4F07-A241-424B48C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부록: 법령·시장·회계 예상 질의응답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B98CA-DBCE-4918-9144-EB7CA9E8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과장 표현을 피하고 확인 필요 항목은 확인 필요로 남깁니다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C17DF-F33F-46A2-A989-6420F3CE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A6A8-5AE9-4E7D-B941-D29D0CF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BEB1-8C15-4B0C-8C56-AABB7C4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7C687-63DF-4B1A-BD8E-A5437792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52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온라인 진료를 제공하고 있습니까?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38DDB-8DBA-49B3-B8D4-171C27B6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954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아닙니다. 현재는 사전상담과 정보 제공 범위이며, 진료 주체는 유치의료기관 소속 의사입니다. 2027년 5월 시행 전 표현을 엄격히 구분합니다.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B9B82-F985-4227-8ADB-1EE34E91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3A608-A555-4D0B-AD29-8E7AE3AD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만족도 98점이라고 볼 수 있습니까?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ADCEE-70DE-440F-AE36-06F26F3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아닙니다. 응답 2건의 평균 4.90/5.0이라는 참고값으로만 제시하고, 표본 부족 때문에 공식 달성으로 쓰지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EB9EC-2A6E-4FF3-B3FE-C95DAA9B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8F8C1-EF6D-409B-8393-97351B4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카자흐 시장이 성장해서 들어간 것입니까?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FA659-FDA0-4B16-B769-37B33F3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그렇게 단정하지 않습니다. 2025년 통계상 카자흐 순위와 증가율은 불리한 면이 있습니다. 본 사업은 대중 성장 시장이 아니라 치료형 고액 수요의 좁은 통로를 검증하는 사업입니다.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142B9-090A-4FF7-A78F-F969EA3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059A1-8297-4FFB-A23F-1DA6C2A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52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사업비 집행률이 낮으면 문제 아닙니까?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3EE47-3433-491E-AB54-437FF78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954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총 집행률은 회계자료 확인 후 확정해야 합니다. 다만 홍보비와 비목 변경 사전승인, 회계법인 중간정산 제출은 완료된 상태로 제시할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C02C-4922-4196-9CAD-C6D2BA1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F18C8-E43D-403E-8B42-CE1B8D53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참여기관 실적은 왜 비어 있습니까?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65CBF-131A-46F0-9741-DBE0F5C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우리 시스템에 잡히지 않는 참여기관 치료·사후관리·만족도 실적은 확인 없이 채우지 않습니다. 발표 전 참여기관 회신으로 보완해야 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53AEA-BF28-4F7B-991D-FED24C06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816575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4336E-C587-4E5C-BEB4-0CA0E5AA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발표 전 확인 필요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BF311-C271-40ED-9F6D-3126C928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이 항목만 채우면 숫자·증빙 리스크를 줄일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4C1AC-5EF7-4F2D-B093-9797DAE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DA206-1A6D-43F6-A42F-CC986B2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9F2DF-02A3-4550-B88E-02065F8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7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B6680-C4E5-4BDB-977E-381CD6E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145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평가일 최종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CEE72-9336-4EAF-A395-D3A900A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D2F18-0FDF-4C29-80C5-8B98B14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19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참여기관 실적: 치료, 원격 사후관리, 협진 연계율, 만족도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FDC36-A338-4332-9933-76CFCF94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81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CA97E-F3A2-4BD2-B701-0CE903C9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24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이화여자대학교 의료원 협약서 서명 원본 보관 여부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B7F52-8296-431C-9746-59A78A74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86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76175-BFA7-4001-B22F-002361CD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29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홍보비 7,700,000원 실제 이체 실행 여부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53A53-AF5C-4224-A38B-841656C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7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91E1F-4857-4B7C-B64B-EC6BDB1A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145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Vercel, Supabase, LiveKit, Apple 원화 확정 청구액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11E24-9505-432D-A8B0-2866B74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76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BF391-9862-4214-9DBC-5FB5F7F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19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총 집행률 및 회계검토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8E4DB-B4DD-4163-BBD2-BCA354F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13296-E30D-460C-854D-135A055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24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소모품비 실제 집행 여부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207AD-A21A-4717-A926-7EB4A584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86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B879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8D7F3-C86C-4EDA-9AF9-4A3AA3E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29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2026년 7월 키르기스스탄 환자 사전상담 실적 인정 여부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7355F-73D0-4BDF-9AB1-26ACB95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확인 전까지는 빈칸을 억지로 채우지 않는 것이 더 안전합니다.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74D8E-734C-4BAA-A9B8-A266398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자료 기준: 2026-08-31 실측 및 사용자 제공 근거</a:t>
            </a:r>
          </a:p>
        </p:txBody>
      </p:sp>
    </p:spTree>
    <p:extLst>
      <p:ext uri="{BB962C8B-B14F-4D97-AF65-F5344CB8AC3E}">
        <p14:creationId xmlns:p14="http://schemas.microsoft.com/office/powerpoint/2010/main" val="869246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2026-09-01T00:15:19.6330000Z</dcterms:created>
  <dcterms:modified xsi:type="dcterms:W3CDTF">2026-09-01T00:15:19.6330000Z</dcterms:modified>
</coreProperties>
</file>