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089498f3344653" /><Relationship Type="http://schemas.openxmlformats.org/officeDocument/2006/relationships/extended-properties" Target="/docProps/app.xml" Id="R329fde5f08b64fee" /><Relationship Type="http://schemas.openxmlformats.org/officeDocument/2006/relationships/officeDocument" Target="/ppt/presentation.xml" Id="R923bf6eaffc546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3b1d2c002e4516"/>
  </p:sldMasterIdLst>
  <p:notesMasterIdLst>
    <p:notesMasterId xmlns:r="http://schemas.openxmlformats.org/officeDocument/2006/relationships" r:id="R448b68865b5a4d38"/>
  </p:notesMasterIdLst>
  <p:sldIdLst>
    <p:sldId xmlns:r="http://schemas.openxmlformats.org/officeDocument/2006/relationships" id="256" r:id="Reef52825213f49a0"/>
    <p:sldId xmlns:r="http://schemas.openxmlformats.org/officeDocument/2006/relationships" id="257" r:id="R4ff74cc03f28424c"/>
    <p:sldId xmlns:r="http://schemas.openxmlformats.org/officeDocument/2006/relationships" id="258" r:id="R6495abb0076147b8"/>
    <p:sldId xmlns:r="http://schemas.openxmlformats.org/officeDocument/2006/relationships" id="259" r:id="R2c01baccf5324844"/>
    <p:sldId xmlns:r="http://schemas.openxmlformats.org/officeDocument/2006/relationships" id="260" r:id="R0820c67e33ba4dbb"/>
    <p:sldId xmlns:r="http://schemas.openxmlformats.org/officeDocument/2006/relationships" id="261" r:id="Ra68c90f7dee14bb7"/>
    <p:sldId xmlns:r="http://schemas.openxmlformats.org/officeDocument/2006/relationships" id="262" r:id="R346bf4420f324a99"/>
    <p:sldId xmlns:r="http://schemas.openxmlformats.org/officeDocument/2006/relationships" id="263" r:id="R62c5aff9be0b445f"/>
    <p:sldId xmlns:r="http://schemas.openxmlformats.org/officeDocument/2006/relationships" id="264" r:id="Ra8bdef2045f940f6"/>
    <p:sldId xmlns:r="http://schemas.openxmlformats.org/officeDocument/2006/relationships" id="265" r:id="R8ffa6b087ff047ea"/>
    <p:sldId xmlns:r="http://schemas.openxmlformats.org/officeDocument/2006/relationships" id="266" r:id="R628581689f1845a5"/>
    <p:sldId xmlns:r="http://schemas.openxmlformats.org/officeDocument/2006/relationships" id="267" r:id="Ra3f0ac4644974c90"/>
    <p:sldId xmlns:r="http://schemas.openxmlformats.org/officeDocument/2006/relationships" id="268" r:id="R75f765c77c6a4701"/>
    <p:sldId xmlns:r="http://schemas.openxmlformats.org/officeDocument/2006/relationships" id="269" r:id="R969916f875154dc7"/>
    <p:sldId xmlns:r="http://schemas.openxmlformats.org/officeDocument/2006/relationships" id="270" r:id="R11b76ad701bf44b5"/>
    <p:sldId xmlns:r="http://schemas.openxmlformats.org/officeDocument/2006/relationships" id="271" r:id="R47da94a14e994c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5a1a7574ad431d" /><Relationship Type="http://schemas.openxmlformats.org/officeDocument/2006/relationships/slideMaster" Target="/ppt/slideMasters/slideMaster1.xml" Id="Rb63b1d2c002e4516" /><Relationship Type="http://schemas.openxmlformats.org/officeDocument/2006/relationships/notesMaster" Target="/ppt/notesMasters/notesMaster1.xml" Id="R448b68865b5a4d38" /><Relationship Type="http://schemas.openxmlformats.org/officeDocument/2006/relationships/presProps" Target="/ppt/presProps.xml" Id="Rad4894fa30d04a1b" /><Relationship Type="http://schemas.openxmlformats.org/officeDocument/2006/relationships/tableStyles" Target="/ppt/tableStyles.xml" Id="R6bbaec84e6fb4811" /><Relationship Type="http://schemas.openxmlformats.org/officeDocument/2006/relationships/slide" Target="/ppt/slides/slide1.xml" Id="Reef52825213f49a0" /><Relationship Type="http://schemas.openxmlformats.org/officeDocument/2006/relationships/slide" Target="/ppt/slides/slide2.xml" Id="R4ff74cc03f28424c" /><Relationship Type="http://schemas.openxmlformats.org/officeDocument/2006/relationships/slide" Target="/ppt/slides/slide3.xml" Id="R6495abb0076147b8" /><Relationship Type="http://schemas.openxmlformats.org/officeDocument/2006/relationships/slide" Target="/ppt/slides/slide4.xml" Id="R2c01baccf5324844" /><Relationship Type="http://schemas.openxmlformats.org/officeDocument/2006/relationships/slide" Target="/ppt/slides/slide5.xml" Id="R0820c67e33ba4dbb" /><Relationship Type="http://schemas.openxmlformats.org/officeDocument/2006/relationships/slide" Target="/ppt/slides/slide6.xml" Id="Ra68c90f7dee14bb7" /><Relationship Type="http://schemas.openxmlformats.org/officeDocument/2006/relationships/slide" Target="/ppt/slides/slide7.xml" Id="R346bf4420f324a99" /><Relationship Type="http://schemas.openxmlformats.org/officeDocument/2006/relationships/slide" Target="/ppt/slides/slide8.xml" Id="R62c5aff9be0b445f" /><Relationship Type="http://schemas.openxmlformats.org/officeDocument/2006/relationships/slide" Target="/ppt/slides/slide9.xml" Id="Ra8bdef2045f940f6" /><Relationship Type="http://schemas.openxmlformats.org/officeDocument/2006/relationships/slide" Target="/ppt/slides/slide10.xml" Id="R8ffa6b087ff047ea" /><Relationship Type="http://schemas.openxmlformats.org/officeDocument/2006/relationships/slide" Target="/ppt/slides/slide11.xml" Id="R628581689f1845a5" /><Relationship Type="http://schemas.openxmlformats.org/officeDocument/2006/relationships/slide" Target="/ppt/slides/slide12.xml" Id="Ra3f0ac4644974c90" /><Relationship Type="http://schemas.openxmlformats.org/officeDocument/2006/relationships/slide" Target="/ppt/slides/slide13.xml" Id="R75f765c77c6a4701" /><Relationship Type="http://schemas.openxmlformats.org/officeDocument/2006/relationships/slide" Target="/ppt/slides/slide14.xml" Id="R969916f875154dc7" /><Relationship Type="http://schemas.openxmlformats.org/officeDocument/2006/relationships/slide" Target="/ppt/slides/slide15.xml" Id="R11b76ad701bf44b5" /><Relationship Type="http://schemas.openxmlformats.org/officeDocument/2006/relationships/slide" Target="/ppt/slides/slide16.xml" Id="R47da94a14e994c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dcc52068674f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f247e49df84323" /><Relationship Type="http://schemas.openxmlformats.org/officeDocument/2006/relationships/notesMaster" Target="/ppt/notesMasters/notesMaster1.xml" Id="Rf3fed8cf3d4e49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d29b795a5b407a" /><Relationship Type="http://schemas.openxmlformats.org/officeDocument/2006/relationships/notesMaster" Target="/ppt/notesMasters/notesMaster1.xml" Id="R8b2da1d1e90645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0bd986dbeb477d" /><Relationship Type="http://schemas.openxmlformats.org/officeDocument/2006/relationships/notesMaster" Target="/ppt/notesMasters/notesMaster1.xml" Id="Re5b8b7ccf0a34b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33273d259c4057" /><Relationship Type="http://schemas.openxmlformats.org/officeDocument/2006/relationships/notesMaster" Target="/ppt/notesMasters/notesMaster1.xml" Id="R19d4353cc61c46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d5036c147f40ed" /><Relationship Type="http://schemas.openxmlformats.org/officeDocument/2006/relationships/notesMaster" Target="/ppt/notesMasters/notesMaster1.xml" Id="Rf4348708cac947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4196598490410c" /><Relationship Type="http://schemas.openxmlformats.org/officeDocument/2006/relationships/notesMaster" Target="/ppt/notesMasters/notesMaster1.xml" Id="R5cd644a9ae3147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f04fc267ca4e3a" /><Relationship Type="http://schemas.openxmlformats.org/officeDocument/2006/relationships/notesMaster" Target="/ppt/notesMasters/notesMaster1.xml" Id="R62587502901342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0ed3f2b22441ab" /><Relationship Type="http://schemas.openxmlformats.org/officeDocument/2006/relationships/notesMaster" Target="/ppt/notesMasters/notesMaster1.xml" Id="Rf8c3ecabc5f841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5c60bcfdcd4072" /><Relationship Type="http://schemas.openxmlformats.org/officeDocument/2006/relationships/notesMaster" Target="/ppt/notesMasters/notesMaster1.xml" Id="R1179eb5e8ae04c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465b7aa1d44b82" /><Relationship Type="http://schemas.openxmlformats.org/officeDocument/2006/relationships/notesMaster" Target="/ppt/notesMasters/notesMaster1.xml" Id="Rb82b08001adc4c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7970fd27f04936" /><Relationship Type="http://schemas.openxmlformats.org/officeDocument/2006/relationships/notesMaster" Target="/ppt/notesMasters/notesMaster1.xml" Id="R6a7c2f39023446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c8164ec11e480c" /><Relationship Type="http://schemas.openxmlformats.org/officeDocument/2006/relationships/notesMaster" Target="/ppt/notesMasters/notesMaster1.xml" Id="Rf588d8be810d43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71746d09ba4738" /><Relationship Type="http://schemas.openxmlformats.org/officeDocument/2006/relationships/notesMaster" Target="/ppt/notesMasters/notesMaster1.xml" Id="Rf9c060313d5f43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691c59a6914b79" /><Relationship Type="http://schemas.openxmlformats.org/officeDocument/2006/relationships/notesMaster" Target="/ppt/notesMasters/notesMaster1.xml" Id="Rc96cda22052348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915c0797074bce" /><Relationship Type="http://schemas.openxmlformats.org/officeDocument/2006/relationships/notesMaster" Target="/ppt/notesMasters/notesMaster1.xml" Id="Rcdbc57702fe447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f3c39411fb4711" /><Relationship Type="http://schemas.openxmlformats.org/officeDocument/2006/relationships/notesMaster" Target="/ppt/notesMasters/notesMaster1.xml" Id="R2c04c339066940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발표는 유치 실적 0건을 감추지 않고 시작합니다.</a:t>
            </a:r>
          </a:p>
          <a:p xmlns:a="http://schemas.openxmlformats.org/drawingml/2006/main">
            <a:r>
              <a:t>다만 플랫폼 구축과 상담 운영, 파트너 접점은 이미 실체가 있고, 남은 기간에는 전환 검증에 집중하겠습니다.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KHIDI_중간보고_코덱스_프롬프트.md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발표의 핵심 질문은 단순합니다.</a:t>
            </a:r>
          </a:p>
          <a:p xmlns:a="http://schemas.openxmlformats.org/drawingml/2006/main">
            <a:r>
              <a:t>정량 실적이 낮은 상황에서, 그래도 잔여기간 지원을 통해 전환 검증까지 갈 수 있는 기반이 만들어졌는가입니다.</a:t>
            </a:r>
          </a:p>
          <a:p xmlns:a="http://schemas.openxmlformats.org/drawingml/2006/main">
            <a:r>
              <a:t>따라서 성과를 포장하지 않고, 기반과 보완계획을 분리해 설명하겠습니다.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중간평가 계획(안)</a:t>
            </a:r>
          </a:p>
          <a:p xmlns:a="http://schemas.openxmlformats.org/drawingml/2006/main">
            <a:r>
              <a:t>사용자 제공 프롬프트 §2, §8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숫자는 네 개만 먼저 제시합니다.</a:t>
            </a:r>
          </a:p>
          <a:p xmlns:a="http://schemas.openxmlformats.org/drawingml/2006/main">
            <a:r>
              <a:t>유치 확정은 0건이고, 시험데이터를 제외한 실제 문의는 6건입니다.</a:t>
            </a:r>
          </a:p>
          <a:p xmlns:a="http://schemas.openxmlformats.org/drawingml/2006/main">
            <a:r>
              <a:t>그 안에서 사전상담과 의료진 소견 전달 7건이 집계됐고, 플랫폼은 20.7만 LOC 규모까지 구축됐습니다.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§3-1, §3-4, §4-1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정량지표는 솔직하게 제시합니다.</a:t>
            </a:r>
          </a:p>
          <a:p xmlns:a="http://schemas.openxmlformats.org/drawingml/2006/main">
            <a:r>
              <a:t>만족도 98점 환산은 표본 2건이므로 달성으로 말하지 않습니다.</a:t>
            </a:r>
          </a:p>
          <a:p xmlns:a="http://schemas.openxmlformats.org/drawingml/2006/main">
            <a:r>
              <a:t>대신 ICT 체계 구축은 완료·운영 중으로 평가 가능한 정성지표입니다.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§3-1, §3-3, §3-4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장에서는 설명을 줄이고 실제 화면을 보여줍니다.</a:t>
            </a:r>
          </a:p>
          <a:p xmlns:a="http://schemas.openxmlformats.org/drawingml/2006/main">
            <a:r>
              <a:t>러시아어와 카자흐어 화면, AI 위험도 판정, 교육 콘텐츠 화면을 통해 정성 구축 실적을 증명합니다.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§4-2</a:t>
            </a:r>
          </a:p>
          <a:p xmlns:a="http://schemas.openxmlformats.org/drawingml/2006/main">
            <a:r>
              <a:t>로컬 화면 캡처 폴더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플랫폼 구축 실적은 코드 규모뿐 아니라 운영 품질로 설명해야 합니다.</a:t>
            </a:r>
          </a:p>
          <a:p xmlns:a="http://schemas.openxmlformats.org/drawingml/2006/main">
            <a:r>
              <a:t>API, 화면, DB 변경이력, 테스트 파일이 있고, 성과 자동집계와 개인정보 보호, AI 품질 자동 채점까지 포함합니다.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§4-1, §4-2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사전상담 7건은 작지만, 의무기록 접수부터 환자 언어 전달까지 실제 프로세스가 닫혔다는 의미가 있습니다.</a:t>
            </a:r>
          </a:p>
          <a:p xmlns:a="http://schemas.openxmlformats.org/drawingml/2006/main">
            <a:r>
              <a:t>오른쪽 소견서 이미지는 개인정보를 가린 증빙입니다.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§3-1, §4-4</a:t>
            </a:r>
          </a:p>
          <a:p xmlns:a="http://schemas.openxmlformats.org/drawingml/2006/main">
            <a:r>
              <a:t>소견서_healwith_개인정보가림_260831_claude.png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원격협진은 강점이지만 표현을 조심해야 합니다.</a:t>
            </a:r>
          </a:p>
          <a:p xmlns:a="http://schemas.openxmlformats.org/drawingml/2006/main">
            <a:r>
              <a:t>현재 단계에서는 온라인 진료가 아니라 사전상담과 정보 제공 범위에서 실증했다고 설명합니다.</a:t>
            </a:r>
          </a:p>
          <a:p xmlns:a="http://schemas.openxmlformats.org/drawingml/2006/main">
            <a:r>
              <a:t>진료 주체는 유치의료기관 소속 의사이고 HEALO는 플랫폼과 유치업자입니다.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§5, §6</a:t>
            </a:r>
          </a:p>
          <a:p xmlns:a="http://schemas.openxmlformats.org/drawingml/2006/main">
            <a:r>
              <a:t>원격협진 캡처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파트너 숫자는 과장하지 않고 보수적으로 제시합니다.</a:t>
            </a:r>
          </a:p>
          <a:p xmlns:a="http://schemas.openxmlformats.org/drawingml/2006/main">
            <a:r>
              <a:t>해외 파트너 회의 15건, 계약·MOU 4건, 시스템 등록 병원 8곳, 파트너 화상 미팅 16건입니다.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§4-4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유치 0건의 원인은 세 가지로 압축합니다.</a:t>
            </a:r>
          </a:p>
          <a:p xmlns:a="http://schemas.openxmlformats.org/drawingml/2006/main">
            <a:r>
              <a:t>고난도 환자 편중, 기존 송출망 고착, 비급여 보험 한계입니다.</a:t>
            </a:r>
          </a:p>
          <a:p xmlns:a="http://schemas.openxmlformats.org/drawingml/2006/main">
            <a:r>
              <a:t>이 세 가지가 다음 실행계획의 근거가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§3-4, §4-4</a:t>
            </a:r>
          </a:p>
          <a:p xmlns:a="http://schemas.openxmlformats.org/drawingml/2006/main">
            <a:r>
              <a:t>사용자 제공 대화 맥락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남은 기간의 실행계획은 세 갈래입니다.</a:t>
            </a:r>
          </a:p>
          <a:p xmlns:a="http://schemas.openxmlformats.org/drawingml/2006/main">
            <a:r>
              <a:t>전환 가능한 환자군으로 바꾸고, 직접 유입 채널을 만들고, 보험 채널을 통해 비용장벽을 줄입니다.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§4-4, §5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일정은 성과를 확정한 것처럼 말하지 않습니다.</a:t>
            </a:r>
          </a:p>
          <a:p xmlns:a="http://schemas.openxmlformats.org/drawingml/2006/main">
            <a:r>
              <a:t>9월 모수 확대, 10월 첫 전환 검증, 11월 최종 정리로 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§1, §4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사업비는 숫자 오류가 가장 위험합니다.</a:t>
            </a:r>
          </a:p>
          <a:p xmlns:a="http://schemas.openxmlformats.org/drawingml/2006/main">
            <a:r>
              <a:t>총사업비, 정부출연금, 자부담, 외주 개발비 0원은 제시하고, 총 집행률은 회계자료 확인 전까지 비워두겠습니다.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§1, §4-5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계속 지원을 요청하는 이유는 이미 모든 지표가 좋기 때문이 아닙니다.</a:t>
            </a:r>
          </a:p>
          <a:p xmlns:a="http://schemas.openxmlformats.org/drawingml/2006/main">
            <a:r>
              <a:t>구축 기반은 완료됐고, 미달 원인에 맞춰 실행계획을 수정했기 때문입니다.</a:t>
            </a:r>
          </a:p>
          <a:p xmlns:a="http://schemas.openxmlformats.org/drawingml/2006/main">
            <a:r>
              <a:t>잔여기간 지원은 구축비가 아니라 유치 전환 검증비로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§2, §8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질의응답의 핵심 세 가지를 발표 안에서 먼저 답합니다.</a:t>
            </a:r>
          </a:p>
          <a:p xmlns:a="http://schemas.openxmlformats.org/drawingml/2006/main">
            <a:r>
              <a:t>유치 0건, 기존 에이전시와의 차별성, 지원금 대비 산출입니다.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§7, §8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마지막은 발표 전 확인 필요 항목입니다.</a:t>
            </a:r>
          </a:p>
          <a:p xmlns:a="http://schemas.openxmlformats.org/drawingml/2006/main">
            <a:r>
              <a:t>확인되지 않은 숫자를 채우면 오히려 평가 리스크가 커집니다.</a:t>
            </a:r>
          </a:p>
          <a:p xmlns:a="http://schemas.openxmlformats.org/drawingml/2006/main">
            <a:r>
              <a:t>참여기관 실적과 회계검토 결과를 우선 확인해야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프롬프트 §3-2, §4-5, §7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c61ec399e43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16b26d9a0744b5" /><Relationship Type="http://schemas.openxmlformats.org/officeDocument/2006/relationships/slideLayout" Target="/ppt/slideLayouts/slideLayout1.xml" Id="R372d4ccba58c47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2d4ccba58c47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1c5b2dcdc4be6" /><Relationship Type="http://schemas.openxmlformats.org/officeDocument/2006/relationships/notesSlide" Target="/ppt/notesSlides/notesSlide1.xml" Id="R7288e8b7da6d47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d5272d8f14209" /><Relationship Type="http://schemas.openxmlformats.org/officeDocument/2006/relationships/notesSlide" Target="/ppt/notesSlides/notesSlide2.xml" Id="R7a92924937554d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6e3b17caf401a" /><Relationship Type="http://schemas.openxmlformats.org/officeDocument/2006/relationships/notesSlide" Target="/ppt/notesSlides/notesSlide3.xml" Id="R4fee7b2cb2ba44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7b875a2034727" /><Relationship Type="http://schemas.openxmlformats.org/officeDocument/2006/relationships/notesSlide" Target="/ppt/notesSlides/notesSlide4.xml" Id="Red03d27b3b8d4d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bf2a7dc164eed" /><Relationship Type="http://schemas.openxmlformats.org/officeDocument/2006/relationships/image" Target="/ppt/media/image.png" Id="R1421411de4e54adc" /><Relationship Type="http://schemas.openxmlformats.org/officeDocument/2006/relationships/image" Target="/ppt/media/image2.png" Id="R1fe4718df2bb45c8" /><Relationship Type="http://schemas.openxmlformats.org/officeDocument/2006/relationships/image" Target="/ppt/media/image3.png" Id="R2e7fcb6d2ddc41a2" /><Relationship Type="http://schemas.openxmlformats.org/officeDocument/2006/relationships/image" Target="/ppt/media/image4.png" Id="R8e22ebdc483a49cd" /><Relationship Type="http://schemas.openxmlformats.org/officeDocument/2006/relationships/notesSlide" Target="/ppt/notesSlides/notesSlide5.xml" Id="R41f7e64e853d4a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7ebd1642f4978" /><Relationship Type="http://schemas.openxmlformats.org/officeDocument/2006/relationships/notesSlide" Target="/ppt/notesSlides/notesSlide6.xml" Id="R11acf89ae6554d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c3c1901a847b6" /><Relationship Type="http://schemas.openxmlformats.org/officeDocument/2006/relationships/image" Target="/ppt/media/image5.png" Id="R593129f8929d4358" /><Relationship Type="http://schemas.openxmlformats.org/officeDocument/2006/relationships/notesSlide" Target="/ppt/notesSlides/notesSlide7.xml" Id="R281e017a28cd40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e74671c9c4fbd" /><Relationship Type="http://schemas.openxmlformats.org/officeDocument/2006/relationships/image" Target="/ppt/media/image6.png" Id="R4784bbab4cc54d6a" /><Relationship Type="http://schemas.openxmlformats.org/officeDocument/2006/relationships/notesSlide" Target="/ppt/notesSlides/notesSlide8.xml" Id="R7c7a464815214c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146f4b0204deb" /><Relationship Type="http://schemas.openxmlformats.org/officeDocument/2006/relationships/image" Target="/ppt/media/image7.png" Id="R143b6301a890420a" /><Relationship Type="http://schemas.openxmlformats.org/officeDocument/2006/relationships/notesSlide" Target="/ppt/notesSlides/notesSlide9.xml" Id="R2ae2d0fc623241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bc27d9626467a" /><Relationship Type="http://schemas.openxmlformats.org/officeDocument/2006/relationships/notesSlide" Target="/ppt/notesSlides/notesSlide10.xml" Id="Rb67da8273b9047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ee04713bb4728" /><Relationship Type="http://schemas.openxmlformats.org/officeDocument/2006/relationships/notesSlide" Target="/ppt/notesSlides/notesSlide11.xml" Id="Re52fc368e1ea48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7e93e03ec4c4b" /><Relationship Type="http://schemas.openxmlformats.org/officeDocument/2006/relationships/notesSlide" Target="/ppt/notesSlides/notesSlide12.xml" Id="R9414249909d04b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77515b3de4e48" /><Relationship Type="http://schemas.openxmlformats.org/officeDocument/2006/relationships/notesSlide" Target="/ppt/notesSlides/notesSlide13.xml" Id="R6f5813b8593149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1c9a3b0b84a43" /><Relationship Type="http://schemas.openxmlformats.org/officeDocument/2006/relationships/notesSlide" Target="/ppt/notesSlides/notesSlide14.xml" Id="Rb6436daef07247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6f72360274c8f" /><Relationship Type="http://schemas.openxmlformats.org/officeDocument/2006/relationships/notesSlide" Target="/ppt/notesSlides/notesSlide15.xml" Id="Re0bb7260cace40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d8f6da5a14ed5" /><Relationship Type="http://schemas.openxmlformats.org/officeDocument/2006/relationships/notesSlide" Target="/ppt/notesSlides/notesSlide16.xml" Id="Rf95683cf2d8643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B859C-1E2D-4A4F-A3C3-E518E46A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HEALO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01431-CA17-486C-8AC3-8FADFA88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중간평가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281BC-2A3B-4739-B380-63D528CB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81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구축은 끝났고,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이제 유치 전환을 검증합니다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D66E7-CA3B-4503-96AC-146B839F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DE445-FFCB-4430-8107-5A76AF6B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D9DEE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9DEE8"/>
                </a:solidFill>
                <a:latin typeface="Malgun Gothic"/>
                <a:ea typeface="Malgun Gothic"/>
                <a:cs typeface="Malgun Gothic"/>
              </a:rPr>
              <a:t>카자흐스탄 암환자 대상 ICT 기반 사전상담·사후관리 통합 의료연계 서비스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3E0BC-ADF9-4CF0-AAB1-86439B88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C6CD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6CDD8"/>
                </a:solidFill>
                <a:latin typeface="Malgun Gothic"/>
                <a:ea typeface="Malgun Gothic"/>
                <a:cs typeface="Malgun Gothic"/>
              </a:rPr>
              <a:t>주관 본로이 · 참여 면력한방병원, 신촌면력한방병원 · 발표일 [확인 필요]</a:t>
            </a:r>
          </a:p>
        </p:txBody>
      </p:sp>
    </p:spTree>
    <p:extLst>
      <p:ext uri="{BB962C8B-B14F-4D97-AF65-F5344CB8AC3E}">
        <p14:creationId xmlns:p14="http://schemas.microsoft.com/office/powerpoint/2010/main" val="3589568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AB9DB-6FE4-44D0-A112-29F188AF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오늘 답해야 할 질문은 하나입니다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FDAC7-0E3E-467A-A83C-DFD5010D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잔금 30%를 투입해 유치 전환을 검증할 만큼 기반이 만들어졌는가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D5F9C-B314-4B6A-B843-DFCAB91B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5032C-5FBA-4CF1-B0B9-FDBDAB3C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58B6E-ADB5-4DD0-9A32-FEE879BA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정량은 낮습니다.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25087-A3B4-4B92-84A8-FD9F1B06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하지만 구축 실체는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C39B4-2568-445F-81A0-4432F3CF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그래서 남은 발표는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‘성과 포장’이 아니라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‘전환 가능성 검증계획’입니다.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7EC01-0A85-4E1C-A1E7-67E82C88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계속 지원 판단의 기준을 이 문장으로 정리합니다.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6051F-0337-4CD5-B5A2-B853F437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rPr>
              <a:t>근거: 중간평가 계획(안), 사용자 제공 자료</a:t>
            </a:r>
          </a:p>
        </p:txBody>
      </p:sp>
    </p:spTree>
    <p:extLst>
      <p:ext uri="{BB962C8B-B14F-4D97-AF65-F5344CB8AC3E}">
        <p14:creationId xmlns:p14="http://schemas.microsoft.com/office/powerpoint/2010/main" val="4701764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2F81F-81F3-4F43-938B-39F4BA33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상태는 네 숫자로 충분합니다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B2207-3FF9-4B12-88AB-F21D21B9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위원이 먼저 볼 숫자를 숨기지 않습니다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910E7-8DBE-49DB-8D04-3510E794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351D7-250B-4D47-8D8A-C40AED0B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64E2D-B659-4A3F-97C4-63AB2AFA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118DD-9B13-41D8-BD45-DF947FBF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2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87DC9-1558-4FF6-B6A1-9DE8448C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유치 확정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목표 12건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3567F-503D-4A4E-9EC8-A2C7B8C6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6건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A6AEA-FCB1-4E43-B345-6370382A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59FE9-66E6-477F-A84D-CB152877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실문의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시험데이터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FD049-0AAF-4C04-999F-94176C45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07847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7847F"/>
                </a:solidFill>
                <a:latin typeface="Malgun Gothic"/>
                <a:ea typeface="Malgun Gothic"/>
                <a:cs typeface="Malgun Gothic"/>
              </a:rPr>
              <a:t>7건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99C82-2911-4CD7-BFE2-3B91C16A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847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67094-FF97-43EF-B130-3BAC9AAC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사전상담·소견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실측 합계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47B06-D853-44AC-B4D2-612BA24F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20.7만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6E297-F2D7-4716-AF84-0830EFD7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D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81116-10F7-46B0-9285-843899E7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소스코드 LOC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운영시스템 규모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E5C82-320F-4308-A0A9-D450D41F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정량 전환은 미달, 구축과 상담 처리 기반은 확인된 상태입니다.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485D7-6806-45C3-8A7A-53D1FFF7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rPr>
              <a:t>기준: 2026-08-31 실측 및 사용자 제공 자료</a:t>
            </a:r>
          </a:p>
        </p:txBody>
      </p:sp>
    </p:spTree>
    <p:extLst>
      <p:ext uri="{BB962C8B-B14F-4D97-AF65-F5344CB8AC3E}">
        <p14:creationId xmlns:p14="http://schemas.microsoft.com/office/powerpoint/2010/main" val="6152930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F1841D-5BA9-4886-B67B-7AC14EC9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성과지표는 달성보다 해석이 중요합니다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7F963-8683-469F-B695-1B877AB2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0은 0으로 두고, 표본 부족은 표본 부족으로 둡니다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BB3EB-8479-421C-8BC2-2D8B548C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F0437-5F16-4F32-9ACA-AE84E8F8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2D3FC-F949-44A1-8785-B6FA96CD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050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C6EF0-9DA8-4C5F-B85E-6337583F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외국인환자 유치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1D240-6165-4B5B-B26B-613CF516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12건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1DEC7-AC8A-4307-9EC0-B0B69C85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57887-D9A5-4342-B0AF-63694CFA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미달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CA552-C51D-486D-A357-A720B849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268D3-AA89-4A96-92B6-B767760E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사전·사후관리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9B588-815F-47A2-A816-F457FBD5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384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120건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4F725-3A79-49D8-94BF-4ED03115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4C689-CB03-4946-B196-49C02160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5.8%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F0E33-306B-432A-98E1-2E22E421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766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4049B-E7E8-4CBB-A48E-4331E629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만족도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142EA-E500-4826-82E8-9B5F05D1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242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90점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4176E-96ED-40E7-8E2A-10A9D06B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242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2건 응답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E47F4-2586-4C7F-847D-A640C14D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242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참고치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B33AE-C969-4B03-B318-F20B15D5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624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513ED-C2D3-46A0-B2AA-0062F1E5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ICT 체계 구축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4867D-BDC1-4508-B9DA-18BFD90E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100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플랫폼 고도화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308B8A-E05A-4D87-B86F-BF5BE1E1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00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완료·운영 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0BA897-395A-48DD-A885-09C810C6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00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달성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954E94-7C39-4F57-8D7E-4BEC8D4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자료의 설득은 낮은 숫자를 바꾸는 데 있지 않고, 낮은 이유와 다음 조치를 맞추는 데 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F72CB5-7A0D-4087-9A7B-DF4CEA19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rPr>
              <a:t>기준: 2026-08-31 실측 및 사용자 제공 자료</a:t>
            </a:r>
          </a:p>
        </p:txBody>
      </p:sp>
    </p:spTree>
    <p:extLst>
      <p:ext uri="{BB962C8B-B14F-4D97-AF65-F5344CB8AC3E}">
        <p14:creationId xmlns:p14="http://schemas.microsoft.com/office/powerpoint/2010/main" val="8921674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9CB05-1C71-4CFD-A495-54E3F79C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플랫폼은 실제 화면으로 증명합니다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59092-CA82-4971-8076-87AE665B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보고서 문장보다 작동 화면이 더 빠르게 설득합니다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8AA88-C5ED-4934-9833-88B03869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B1C5B-99D6-4F08-A732-89B4CED6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1411de4e54adc"/>
          <a:srcRect xmlns:a="http://schemas.openxmlformats.org/drawingml/2006/main" l="0" t="2593" r="0" b="2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809750"/>
            <a:ext cx="5143500" cy="30480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4718df2bb45c8"/>
          <a:srcRect xmlns:a="http://schemas.openxmlformats.org/drawingml/2006/main" l="26563" t="0" r="265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43625" y="1809750"/>
            <a:ext cx="2286000" cy="3048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fcb6d2ddc41a2"/>
          <a:stretch xmlns:a="http://schemas.openxmlformats.org/drawingml/2006/main"/>
        </p:blipFill>
        <p:spPr>
          <a:xfrm xmlns:a="http://schemas.openxmlformats.org/drawingml/2006/main">
            <a:off x="9006840" y="1809750"/>
            <a:ext cx="1988820" cy="138112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2ebdc483a49cd"/>
          <a:stretch xmlns:a="http://schemas.openxmlformats.org/drawingml/2006/main"/>
        </p:blipFill>
        <p:spPr>
          <a:xfrm xmlns:a="http://schemas.openxmlformats.org/drawingml/2006/main">
            <a:off x="9006840" y="3476625"/>
            <a:ext cx="1988820" cy="1381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1618A-34BE-4BD6-A57E-F74A8C6C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6개 언어, AI 상담, 원격협진, 사후관리 화면이 이미 같은 서비스 안에서 작동합니다.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3E094-4C4B-4A60-9DF5-34285716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rPr>
              <a:t>근거: 로컬 플랫폼 화면 캡처</a:t>
            </a:r>
          </a:p>
        </p:txBody>
      </p:sp>
    </p:spTree>
    <p:extLst>
      <p:ext uri="{BB962C8B-B14F-4D97-AF65-F5344CB8AC3E}">
        <p14:creationId xmlns:p14="http://schemas.microsoft.com/office/powerpoint/2010/main" val="19993888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95C30B-C6C1-4D20-B7A4-20693FE5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개발은 ‘웹페이지 제작’ 수준이 아닙니다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F3853-BDAE-480D-82B7-C7B60C47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운영·보안·품질관리까지 포함된 업무 시스템입니다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CFF83-8D4E-4A6F-B0AF-9495541A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25952-B98D-4F40-A9AD-0F99A936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BA9C2-6F6D-43EB-BE38-5D469E94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229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0335B-3723-4A0D-845A-C1FE21AB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41733-268B-4DCA-9BC2-79D67254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API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엔드포인트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C68CC-34CA-4EB9-A3B1-38F8ADE4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07847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7847F"/>
                </a:solidFill>
                <a:latin typeface="Malgun Gothic"/>
                <a:ea typeface="Malgun Gothic"/>
                <a:cs typeface="Malgun Gothic"/>
              </a:rPr>
              <a:t>140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41E3F-BADC-47B1-9406-D289F7FA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84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3F091-958F-4AD9-B239-6F6364A8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6개 언어 적용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FB8F9-F3C6-48ED-A863-9873B58B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A15C0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A15C07"/>
                </a:solidFill>
                <a:latin typeface="Malgun Gothic"/>
                <a:ea typeface="Malgun Gothic"/>
                <a:cs typeface="Malgun Gothic"/>
              </a:rPr>
              <a:t>159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AFEAE-5229-47C4-AC21-E7EF6A24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15C0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36BC1-FB36-4BD7-B1D9-BA979D75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DB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마이그레이션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38952-A0FB-4C53-A015-CC253DA7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213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4CCA1-97C4-4B7A-836A-008F26BA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D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74BAC-458D-44C8-863B-0762E00F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테스트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파일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DC02F-B8BC-411A-99A6-C68C219F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성과 자동집계 · RLS 권한 · AES-256-GCM 암호화 · AI 품질 자동 채점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FB482-1097-4A0F-BC3B-C7DE64AC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rPr>
              <a:t>기준: 2026-08-31 실측 및 사용자 제공 자료</a:t>
            </a:r>
          </a:p>
        </p:txBody>
      </p:sp>
    </p:spTree>
    <p:extLst>
      <p:ext uri="{BB962C8B-B14F-4D97-AF65-F5344CB8AC3E}">
        <p14:creationId xmlns:p14="http://schemas.microsoft.com/office/powerpoint/2010/main" val="1332163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70118-BC93-409B-B152-69FD2AAD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사전상담은 병원 검토까지 실제로 닫혔습니다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B9B9B-6E7D-491F-BAC8-79057484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실적은 작지만 업무 흐름은 한 바퀴 돌았습니다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D2F17-D723-4601-BCE7-622A4CAF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AF30C-3306-463D-AEB5-5FCE26A7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7B95D-FA05-404A-9E52-4C9C1252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의무기록 접수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ED2EC-8F6E-44E9-B1DF-79E55729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번역·정리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47A4A-D634-4A12-8F7E-33AE9EB1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의료진 회신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7116F-B59D-41C0-AC4F-19672E50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환자 언어 전달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2DB0D-1814-48DB-BAD0-C201E54F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670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6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9F492-CAE6-42E3-B509-64E3E63D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6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5D2AA-C855-4F5B-A16F-2135C9A5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76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6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129f8929d4358"/>
          <a:stretch xmlns:a="http://schemas.openxmlformats.org/drawingml/2006/main"/>
        </p:blipFill>
        <p:spPr>
          <a:xfrm xmlns:a="http://schemas.openxmlformats.org/drawingml/2006/main">
            <a:off x="6026828" y="1809750"/>
            <a:ext cx="3186345" cy="3429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D4886-1C5D-4EEA-B877-231C87B7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유치 전 단계의 핵심 운영 흐름은 실제 환자 문의로 검증됐습니다.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7D62A-63AC-4161-BB86-0AF7A934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rPr>
              <a:t>기준: 2026-08-31 실측 및 사용자 제공 자료</a:t>
            </a:r>
          </a:p>
        </p:txBody>
      </p:sp>
    </p:spTree>
    <p:extLst>
      <p:ext uri="{BB962C8B-B14F-4D97-AF65-F5344CB8AC3E}">
        <p14:creationId xmlns:p14="http://schemas.microsoft.com/office/powerpoint/2010/main" val="12116163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4F613-4447-4713-9CBA-35081B54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원격협진은 법적 범위를 지켜 실증했습니다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8CF7E-C968-4020-8C7F-90F3AC02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현재는 진료가 아니라 사전상담·정보제공입니다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5299D-9465-4B06-9B74-92E3FE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04FEE-4EC1-42EF-A40E-2DA244C0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4bbab4cc54d6a"/>
          <a:srcRect xmlns:a="http://schemas.openxmlformats.org/drawingml/2006/main" l="6382" t="0" r="63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809750"/>
            <a:ext cx="5905500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34E1D-91A3-4A1E-9810-23F832F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말할 수 있는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4AA16-D96F-4DA3-9F9B-D8657E5B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9080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사전상담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정보 제공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치료 가능성 검토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플랫폼 화상상담 실증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D76DB-8BC7-4B19-ADCF-5956F3B6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말하면 안 되는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29B1C-D1A7-407B-8B1E-D1F447D9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온라인 진료 제공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초진·처방 수행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088FF-01B0-45A7-8B32-C9E856A3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rPr>
              <a:t>기준: 2026-08-31 실측 및 사용자 제공 자료</a:t>
            </a:r>
          </a:p>
        </p:txBody>
      </p:sp>
    </p:spTree>
    <p:extLst>
      <p:ext uri="{BB962C8B-B14F-4D97-AF65-F5344CB8AC3E}">
        <p14:creationId xmlns:p14="http://schemas.microsoft.com/office/powerpoint/2010/main" val="19329414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7EB77-9A2F-4B83-895D-562F9E93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유입 경로도 일부는 계약으로 전환됐습니다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A5637-D973-4069-88EF-0674E64C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집계는 보수적으로 잡아도 외부 접점은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FB56D-8898-463B-AC91-88F2C089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6DBE7-B571-4062-A9AA-C60C9857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A9B18-F3B7-46F7-96C9-8EED972A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15건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DB7EC-7757-42B8-86D2-42AD7B2B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D77B1-5663-463D-A286-A2BD4738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해외 파트너 회의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회의록 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F321D-10AE-4AA9-80D2-8943BF20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07847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7847F"/>
                </a:solidFill>
                <a:latin typeface="Malgun Gothic"/>
                <a:ea typeface="Malgun Gothic"/>
                <a:cs typeface="Malgun Gothic"/>
              </a:rPr>
              <a:t>4건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90706-B2BE-413F-998C-4F998E9A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84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68861-6380-4420-9BDE-4F7F5716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계약·MOU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MedicaTour, UMIT 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A19B4-0290-4D05-9AA1-9903A6D5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8곳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9486D-92F8-4D33-A6FC-DD48243E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D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4E512-18F9-4590-8C77-4FC0F2B3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시스템 등록 병원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91EAE-562C-4221-80CF-89B54C83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A15C0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A15C07"/>
                </a:solidFill>
                <a:latin typeface="Malgun Gothic"/>
                <a:ea typeface="Malgun Gothic"/>
                <a:cs typeface="Malgun Gothic"/>
              </a:rPr>
              <a:t>16건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A54B9-BA58-488A-9F9C-7D60D968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15C0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DF26F-DB25-4BCE-A372-35FE3BBA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파트너 화상 미팅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완료 2·예정 14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b6301a890420a"/>
          <a:stretch xmlns:a="http://schemas.openxmlformats.org/drawingml/2006/main"/>
        </p:blipFill>
        <p:spPr>
          <a:xfrm xmlns:a="http://schemas.openxmlformats.org/drawingml/2006/main">
            <a:off x="4589575" y="4476750"/>
            <a:ext cx="3012850" cy="914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8E0AC-EF32-422A-B9BE-98A2B746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유치가 아직 없다는 사실과 별개로, 환자 유입 경로를 만들기 위한 접점은 형성됐습니다.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61262-4E14-4D30-B52F-CA6B0031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rPr>
              <a:t>기준: 2026-08-31 실측 및 사용자 제공 자료</a:t>
            </a:r>
          </a:p>
        </p:txBody>
      </p:sp>
    </p:spTree>
    <p:extLst>
      <p:ext uri="{BB962C8B-B14F-4D97-AF65-F5344CB8AC3E}">
        <p14:creationId xmlns:p14="http://schemas.microsoft.com/office/powerpoint/2010/main" val="16847914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1C8B7-71F4-43DF-8369-67715DD9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그런데 왜 유치가 0건인가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22C82-B99E-4A8A-8BF8-3106DFEE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핵심은 변명이 아니라 타깃과 채널의 재설정입니다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F55B0-79C1-424D-9DAA-E624DA68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A3C72-C0BF-400B-A9DE-D2341E69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7C87E-1C36-4266-8B4B-87BCD637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45FD1-3CBC-4990-9D27-82B646A8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고난도 환자 편중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CF405-DAD0-4AF0-B911-A7CF1599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장기이식·말기암 등 단기 유치로 전환하기 어려운 문의가 먼저 들어왔습니다.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C6B4C-5972-426C-A0CB-5638E7A5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81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A15C0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A15C0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7AA5B-05B4-4B65-8DB9-868416CD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기존 송출망 고착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095FD-2EDA-4195-96C6-884DEA5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현지 에이전시는 이미 한국 파트너 또는 인도·튀르키예 선택지를 갖고 있었습니다.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9ACE5-7A67-47E4-B0BF-AEE182C2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EE592-CAA2-4A5E-9CFF-B13A0BC1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비급여 보험 한계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16843-DA0D-48C6-8A60-0C36BE1B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0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비급여 비용이 보험 보장으로 연결되지 않으면 환자 결정이 지연됩니다.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44826-B9BE-4310-BF72-D2ABFF6B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따라서 답은 ‘더 열심히’가 아니라 ‘전환 가능한 모수’를 다시 만드는 것입니다.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4C0D3-DC23-4577-9C7B-C30D0656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rPr>
              <a:t>기준: 2026-08-31 실측 및 사용자 제공 자료</a:t>
            </a:r>
          </a:p>
        </p:txBody>
      </p:sp>
    </p:spTree>
    <p:extLst>
      <p:ext uri="{BB962C8B-B14F-4D97-AF65-F5344CB8AC3E}">
        <p14:creationId xmlns:p14="http://schemas.microsoft.com/office/powerpoint/2010/main" val="3727649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71BF1-0FD0-4C20-A8EB-4FCCDC32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하반기 실행은 환자군·채널·비용장벽을 동시에 바꿉니다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D8EB3-6693-40EB-840F-0F2B3EE5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유치 가능한 문의 모수를 먼저 키워야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EA7CD-CEEF-4D74-B69D-E8B6703D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D4EE3-47E5-4187-8372-5CC52D21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EDDB2-C244-41E3-8241-31532D4A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F19D1-B13F-4B98-AB2C-0713AC8E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환자군 재설정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A4CB1-2524-4E47-9167-014772A1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종합검진·조기암·국내 체류 외국인까지 넓혀 단기 전환 가능성을 높입니다.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514E2-FB2A-4F38-95FC-9697CC0B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81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63EEC-D97A-4289-82F4-C3D791A5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직접 유입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69FAD-38BE-40CE-BD79-CAFEE2F9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현지 검색광고와 러시아·CIS 콘텐츠로 에이전시 의존도를 낮춥니다.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1F8D2-1F7D-4262-BCD0-DE6F6A3A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7847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7847F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10CE1-4B0D-41F5-AD81-1C2A5794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보험 채널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B86CC-1F57-4107-BCC8-9D32299A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0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Madanes 등 보험 가입자 연계와 보험 안내 페이지로 비용장벽을 줄입니다.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D7D9E-D5DD-41D9-95FE-14828B60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목표는 홍보량이 아니라 전환 가능한 실문의의 증가입니다.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A364D-0F40-4D6B-B598-9F047101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rPr>
              <a:t>기준: 2026-08-31 실측 및 사용자 제공 자료</a:t>
            </a:r>
          </a:p>
        </p:txBody>
      </p:sp>
    </p:spTree>
    <p:extLst>
      <p:ext uri="{BB962C8B-B14F-4D97-AF65-F5344CB8AC3E}">
        <p14:creationId xmlns:p14="http://schemas.microsoft.com/office/powerpoint/2010/main" val="19947827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419FC-1E24-44C4-8305-FDE4CB97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9~11월은 전환 검증 일정입니다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BE7B8-F40B-4C3F-9F34-6EADFD0A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확정 성과처럼 말하지 않고, 단계별 검증으로 말합니다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2EB88-D6FC-4BC7-8C47-E73A970D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B3A49-57D4-46FB-95B5-2D4AC74B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1A0B4-4C88-401A-BAE0-78C11158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575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61C58-0D99-4F43-9E97-C7EA3831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6B10D-1C91-4ED2-A0A4-776FE755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3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9월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D37E9-889A-4D56-816A-8A644626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모수 확대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08EF5-977A-4FB9-A636-03E0E135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검색광고·콘텐츠 집행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환자군 테스트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DF8C3-FF9E-40A9-AFBE-7C6131A9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4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8041D-4666-43F6-ACC6-DA497F18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812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3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10월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FD9ED-3B37-491E-BC7E-D390C57B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76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첫 전환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D8C64-2AAF-4660-9CF7-BC6A3719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실환자 안내 적용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만족도 수집 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9E2F5-E12C-4B63-BE97-5708CE47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5C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4AB27-3E52-410A-809A-DA58A664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3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11월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C0F41-EB12-432D-93E0-89D9ADD4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76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최종 정리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723DD-E4B5-40D4-A772-1F2728B8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95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유치·상담·사후관리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실적과 증빙 정리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FCCE7-1C6C-43D9-BA38-F4F8F23F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평가 전 표현은 ‘확정’보다 ‘검증’이 안전합니다.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912EB9-BD7B-4B76-8C9F-DE202D9D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rPr>
              <a:t>사업기간: 2026년 4월 ~ 2026년 11월 20일</a:t>
            </a:r>
          </a:p>
        </p:txBody>
      </p:sp>
    </p:spTree>
    <p:extLst>
      <p:ext uri="{BB962C8B-B14F-4D97-AF65-F5344CB8AC3E}">
        <p14:creationId xmlns:p14="http://schemas.microsoft.com/office/powerpoint/2010/main" val="12413366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AC2A7-3369-4A90-827E-B1398DA4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사업비는 확인된 숫자만 씁니다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9EBDA-D3F7-43BD-86A2-175C6CE0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총 집행률은 회계자료 확정 전까지 비워 두는 편이 안전합니다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EDD59-AC68-470A-A956-8DDF4FFA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E7742-174E-4613-8160-C3749B64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E94A9-6C0B-4216-9CA5-B89DBC76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87,500천원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366EE-61BF-4719-ABF0-1DF26FD7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CFD91-08C6-4F41-AA54-958FC6E2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총사업비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9F37B-EC6D-4B4D-9ABF-47673DBE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70,000천원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8F00D-629A-4EEA-9704-293BFC11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6A84F-BC20-41E5-87D1-E8173121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정부출연금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92D7C-A9A1-49A4-B0F5-12805F74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07847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7847F"/>
                </a:solidFill>
                <a:latin typeface="Malgun Gothic"/>
                <a:ea typeface="Malgun Gothic"/>
                <a:cs typeface="Malgun Gothic"/>
              </a:rPr>
              <a:t>17,500천원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A6954-EBC1-4182-9F03-5801461A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847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BBE45-7122-49D7-8DB4-A93D6E9E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자부담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7B1EA-CC8C-4E23-9564-B6EF532B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669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60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0원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DA95C-B0DE-4F35-857F-46EC5D67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2895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D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54FF4-2AC2-48A6-90DD-DC409A1E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95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외주 개발비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자체 개발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4119F-6B72-4EB5-A4B9-33D03D3F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확인된 것: 홍보비·비목 변경 사전승인, 회계법인 중간정산 제출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E93CDD-7CB6-46B7-A2AD-46267F32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054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확인 필요: 실제 이체, 해외 클라우드 원화 청구액, 총 집행률, 회계검토 결과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1E68D-0D7D-489D-A545-45DCC97D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rPr>
              <a:t>기준: 2026-08-31 실측 및 사용자 제공 자료</a:t>
            </a:r>
          </a:p>
        </p:txBody>
      </p:sp>
    </p:spTree>
    <p:extLst>
      <p:ext uri="{BB962C8B-B14F-4D97-AF65-F5344CB8AC3E}">
        <p14:creationId xmlns:p14="http://schemas.microsoft.com/office/powerpoint/2010/main" val="30061116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2DAE9-5DF5-4C9D-B01E-D5D98D9C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계속 지원의 근거는 ‘완료된 기반’과 ‘수정된 실행계획’입니다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48C82-4E8D-4D8C-ACF4-BDA64CC8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유치 실적 0건 자체를 부정하지 않습니다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B28B6-60B9-40BA-8239-52ECE6C5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9FB91-E2E8-4695-8F5A-021B1CC6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EAD28-F9F6-4EB8-AE84-E6594672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955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87D3C"/>
                </a:solidFill>
                <a:latin typeface="Malgun Gothic"/>
                <a:ea typeface="Malgun Gothic"/>
                <a:cs typeface="Malgun Gothic"/>
              </a:rPr>
              <a:t>완료된 기반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25A87-F4D5-4B86-86B6-7FCDCAF2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1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플랫폼 구축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6개 언어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원격협진 실증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의료진 소견 전달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파트너 접점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12E21-0ACC-4447-AFF8-BE07F675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2714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C3C77-9221-4D95-8A56-8D4C12C3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수정된 실행계획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B21A5-3012-4451-BD57-ED6F0147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361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1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환자군 재설정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직접 유입 확대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보험 채널 보완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사후관리 실증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성과 증빙 정리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27B32-AA50-4E00-A0FC-33EB111E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잔여기간 지원은 구축비가 아니라 유치 전환 검증비로 설명해야 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738EB-DDF6-4826-A776-95F72C10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rPr>
              <a:t>기준: 2026-08-31 실측 및 사용자 제공 자료</a:t>
            </a:r>
          </a:p>
        </p:txBody>
      </p:sp>
    </p:spTree>
    <p:extLst>
      <p:ext uri="{BB962C8B-B14F-4D97-AF65-F5344CB8AC3E}">
        <p14:creationId xmlns:p14="http://schemas.microsoft.com/office/powerpoint/2010/main" val="171324402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9D277-B071-4306-80FC-B145EB20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가장 어려운 질문은 먼저 답합니다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6D111-8665-4B89-BCEA-777A4476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길게 변명하지 않고, 인정 후 계획으로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C96DD-1EAA-4074-BA63-5DB08BA6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BB940-CD7C-41B8-AE93-18801059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0BB17-398C-4E1F-AC2A-84113BAD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유치 0건인데 계속 지원 가치가 있습니까?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D6E8A-D799-4175-B053-4675CFE8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9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0건은 인정합니다. 다만 실문의 6건에서 의무기록 접수와 의료진 검토까지 운영 흐름을 검증했고, 남은 기간에는 환자군·채널·보험 장벽을 조정해 전환 가능한 모수를 만들겠습니다.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4FC96-235F-41DD-882A-74A698EE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D4448-8654-4388-9B27-022A3369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기존 에이전시와 무엇이 다릅니까?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DDE26-0519-414D-B209-3E961CE9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813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일회성 송출 중개가 아니라 사전상담, 의무기록 번역, 원격협진, 사후관리, 성과집계를 하나의 운영 데이터로 묶습니다.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42160-8C99-41A7-A6F7-52BE0F87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24F1D-75E7-41E4-A8DC-BC40F0B5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지원금 대비 산출이 무엇입니까?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3E412-172B-4966-BBA6-36D0000B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20.7만 LOC, API 229개, 화면 140개, DB 마이그레이션 159개, 테스트 213개 규모의 운영 시스템을 자체 개발했습니다.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48702-3879-447C-BD3D-8B4300CE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33B3C-F0E8-4B36-BA25-B2502989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rPr>
              <a:t>기준: 2026-08-31 실측 및 사용자 제공 자료</a:t>
            </a:r>
          </a:p>
        </p:txBody>
      </p:sp>
    </p:spTree>
    <p:extLst>
      <p:ext uri="{BB962C8B-B14F-4D97-AF65-F5344CB8AC3E}">
        <p14:creationId xmlns:p14="http://schemas.microsoft.com/office/powerpoint/2010/main" val="137453319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91B13-1843-4067-957F-1757B42C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발표 전에는 빈칸을 억지로 채우지 않습니다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FC7C7-32DB-4FC7-BF72-9F598473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확인되지 않은 숫자는 점수보다 신뢰를 먼저 깎습니다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13741-D1A8-4DE6-B1FE-4A858D20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14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4226F-396B-41D4-9751-D465CA0C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C1EC1-F2DD-4A74-9945-C82E2C98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669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5A1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A0FE2-20FC-4889-BD39-A523EDCE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00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평가일 최종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8DAAC-DDD7-40BC-BD36-BC3B921D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86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5A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BA21B-6889-49DC-8EBD-51304889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19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참여기관 치료·사후관리·만족도 실적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41480-C448-49D2-8C0A-2E273521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05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5A1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58C08-3E1A-4CCC-8237-33A33AA2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385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협약서 서명 원본 보관 여부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6FCD6-4B17-4510-8FE3-BD137093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5A1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AE8E5-69DF-42B5-97BE-128BC3CD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홍보비 실제 이체 실행 여부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0ADDB-9463-42E6-AF18-D5A59F2E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5A1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02743-DA48-4520-B0F8-7E1A25A3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0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클라우드 원화 청구액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A93FA-9121-40D9-982E-B3D84E01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5A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7755C-408F-4BB4-81A0-14C3D04D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19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총 집행률 및 회계검토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4DD13-1509-4649-B999-E73BAC22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5A1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00278-B1B9-4934-B01E-1B96440C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385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소모품비 집행 여부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E847C-C76E-48C8-A14C-3F376E3E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5A1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F5FED-0C26-4988-AF8C-2A563244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577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키르기스스탄 환자 실적 인정 여부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98991-7603-47F3-9EBE-CCC8166A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확인 전 숫자를 만들지 않는 것이 이 발표의 신뢰입니다.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9724FB-5360-40FC-AD41-B46728C5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8290A2"/>
                </a:solidFill>
                <a:latin typeface="Malgun Gothic"/>
                <a:ea typeface="Malgun Gothic"/>
                <a:cs typeface="Malgun Gothic"/>
              </a:rPr>
              <a:t>기준: 2026-08-31 실측 및 사용자 제공 자료</a:t>
            </a:r>
          </a:p>
        </p:txBody>
      </p:sp>
    </p:spTree>
    <p:extLst>
      <p:ext uri="{BB962C8B-B14F-4D97-AF65-F5344CB8AC3E}">
        <p14:creationId xmlns:p14="http://schemas.microsoft.com/office/powerpoint/2010/main" val="1466512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2026-09-01T00:42:34.4310000Z</dcterms:created>
  <dcterms:modified xsi:type="dcterms:W3CDTF">2026-09-01T00:42:34.4310000Z</dcterms:modified>
</coreProperties>
</file>