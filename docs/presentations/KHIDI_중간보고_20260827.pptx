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905000"/>
            <a:ext cx="12192000" cy="2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7F7F7F"/>
                </a:solidFill>
                <a:latin typeface="에스코어 드림 3 Light"/>
              </a:rPr>
              <a:t>2026년 ICT기반 외국인환자 사전상담 · 사후관리 지원 사업</a:t>
            </a:r>
          </a:p>
          <a:p>
            <a:pPr algn="ctr">
              <a:spcBef>
                <a:spcPts val="1000"/>
              </a:spcBef>
            </a:pPr>
            <a:r>
              <a:rPr sz="2600">
                <a:solidFill>
                  <a:srgbClr val="000000"/>
                </a:solidFill>
                <a:latin typeface="에스코어 드림 8 Heavy"/>
              </a:rPr>
              <a:t>중간보고</a:t>
            </a:r>
          </a:p>
          <a:p>
            <a:pPr algn="ctr">
              <a:spcBef>
                <a:spcPts val="1000"/>
              </a:spcBef>
            </a:pPr>
            <a:r>
              <a:rPr sz="1300">
                <a:solidFill>
                  <a:srgbClr val="767171"/>
                </a:solidFill>
                <a:latin typeface="에스코어 드림 4 Regular"/>
              </a:rPr>
              <a:t>카자흐스탄 암환자 대상 ICT 기반 사전상담·사후관리 통합 의료연계 서비스 구축 (HEALO 플랫폼)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0"/>
            <a:ext cx="1219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주관 본로이   ·   참여 면력한방병원 · 신촌면력한방병원   ·   사업기간 2026.04 ~ 11   ·   발표 2026.08.27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1.  사업 총괄 요약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개요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2026-05-14 수행계획서 확정본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06600"/>
          <a:ext cx="955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76454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사업명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암환자 대상 ICT 기반 사전상담 및 사후관리 통합 의료연계 서비스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사업기간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 04. ~ 2026. 11. (8개월)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대상국가 · 고객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(러시아·키르기스스탄·CIS 확장) / 암환자 및 보호자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사업비(계획액)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총 87,500천원   ·   보조금 70,000천원(80%)   ·   자부담 17,500천원(20%)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 / 책임자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 / 강주영 대표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 · 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유치업 등록 A-2026-01-02-06761 · SGI 서울보증 배상책임보험 1억 · 보유특허 2건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총괄 요약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22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해외 파트너 미팅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카자흐 9 · 러시아 3 · 기타 3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98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4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계약 · 협약 체결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에이전시 1 · MOU 3</a:t>
            </a:r>
          </a:p>
        </p:txBody>
      </p:sp>
      <p:sp>
        <p:nvSpPr>
          <p:cNvPr id="7" name="Rectangle 6"/>
          <p:cNvSpPr/>
          <p:nvPr/>
        </p:nvSpPr>
        <p:spPr>
          <a:xfrm>
            <a:off x="6045200" y="1905000"/>
            <a:ext cx="24130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230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8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실환자 문의 접수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5월 1 · 6월 1 · 7월 3 · 8월 3</a:t>
            </a:r>
          </a:p>
        </p:txBody>
      </p:sp>
      <p:sp>
        <p:nvSpPr>
          <p:cNvPr id="9" name="Rectangle 8"/>
          <p:cNvSpPr/>
          <p:nvPr/>
        </p:nvSpPr>
        <p:spPr>
          <a:xfrm>
            <a:off x="8610600" y="1905000"/>
            <a:ext cx="2413000" cy="11684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88400" y="2057400"/>
            <a:ext cx="20574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사전상담·사후관리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000000"/>
                </a:solidFill>
                <a:latin typeface="에스코어 드림 3 Light"/>
              </a:rPr>
              <a:t>목표 120건 대비 12.5%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378200"/>
            <a:ext cx="10363200" cy="2235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1320800" y="3632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600"/>
                <a:gridCol w="80518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사업목적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CIS 암환자가 브로커에 의존하지 않고 한국 양·한방 협진에 접근하도록 ICT 사전상담·사후관리 체계를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 완료(6개 언어·원격협진·AI 상담·성과 대시보드) / 해외 파트너 15곳 접촉 · 4건 체결 / 사전상담 누적 15건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 활용계획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플랫폼을 2027년 이후 자체 유치사업 및 참여병원 대상 이용료 모델로 전환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문제점 및 건의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확정·만족도는 아직 0 — 사전상담은 누적 15건(12.5%)으로 증가 중. 유치 전환을 8월 광고·파트너 실사로 밀어붙이는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816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연결망을 만들었고, 사전상담 15건이 그 통로가 실제로 작동함을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1부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계획 대비 추진실적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수행계획서 월별 마일스톤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3175000"/>
                <a:gridCol w="4826000"/>
                <a:gridCol w="965200"/>
              </a:tblGrid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월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추진계획 (당초)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추진실적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비고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· 개발 착수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 완료 + 환자 유치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배포 · MOU 2건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 (현지어 UI·원격상담)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6개 언어 화면 전환 완료(번역 문구 1,753개)·원격협진·AI 상담·성과 대시보드 / 해외 미팅 4회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+ 원격협진·사후관리 본격화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완료 / 해외 미팅 11회 · 계약 2건 체결 / 홍보비 집행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실환자 송출 지연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원격협진·치료·사후관리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영상 사전상담(08.03)·소견서 발급(08.04) / 대학병원 의뢰 2곳 발송(08.10) → 이대서울 회신 소견 수령(08.14) / 사업계획 변경 승인요청 제출(08.13) / 모바일 앱 정식 출시(08.13)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일부 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일정은 계획대로 완료. 지연은 「실환자 송출」 한 가지이며 사유·대책은 자체 중간평가에서 보고합니다.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2.  원격진료 부문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왜 카자흐스탄인가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우리 주장이 아니라 정부 기관의 분류입니다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27200"/>
            <a:ext cx="10363200" cy="2311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1981200"/>
          <a:ext cx="9550400" cy="172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2540000"/>
                <a:gridCol w="4318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진흥원 분류 (2025.12 발간)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해당 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특징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미용 · 시술 중심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일본 · 대만 · 중국 · 태국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 소비의 75% 이상이 피부 · 성형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치료형 고액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· 몽골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종합병원 · 내과 중심 — 무겁고 비싼 치료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복합형 소비 국가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미국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의료와 관광을 병행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1320800" y="4191000"/>
            <a:ext cx="5492750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7000" y="4191000"/>
            <a:ext cx="5492750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우리 타깃은 「미용 대세」의 예외 구역 — 진흥원이 자기 분류로 적어놨습니다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24400"/>
            <a:ext cx="10363200" cy="139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정직하게 같이 말할 불리한 사실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카자흐스탄 2025년 1.5만 명 — 순위 11위→13위 하락, 증가율 +4.9%로 상위 15개국 중 최저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러시아 2만 명 — 9위→11위 하락 (인원 +21.9%이나 피부과로 이동)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즉 「시장이 커져서 들어갔다」가 아니라 「성격이 우리와 맞아서 들어갔다」입니다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600" y="59690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출처: KHIDI 「2024 신용카드 데이터로 본 외국인환자 소비패턴 분석 보고서」(2025-12-16) · 보건복지부 「2025년 외국인 환자 유치 200만 돌파」 보도자료 (2026-08-11 원문 확인)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1. 사업내용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 수행 체계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 한 명이 지나가는 경로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현지 발굴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에이전시 · 보험사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카자흐 · 러시아 · CIS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3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사전상담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AI 상담 + 화상 협진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실시간 6개 언어 통역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32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59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본치료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협진 상급종합병원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암 수술 · 항암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91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18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재활 · 회복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면력한방병원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신촌면력한방병원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50400" y="2222500"/>
            <a:ext cx="1930400" cy="13716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77400" y="2374900"/>
            <a:ext cx="1676400" cy="111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귀국 후 사후관리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UMIT 국제암센터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현지 경과 관찰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2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041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200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9359900" y="2819400"/>
            <a:ext cx="1524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73500"/>
            <a:ext cx="103124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전 구간을 HEALO 플랫폼 한 곳에서 기록·추적 — 사전상담부터 사후관리까지 끊기지 않음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914400" y="4381500"/>
          <a:ext cx="10312400" cy="106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905000"/>
                <a:gridCol w="7391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주관기관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본로이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개발·운영, 유치 총괄, 사전상담·사후관리 체계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재활·면역 치료, 세컨드 오피니언 작성, 협진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신촌면력한방병원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 재활·사후관리 프로그램 운영, 만족도 조사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990600" y="5740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협진 상급종합병원(이대서울·이대목동·고려대구로·신촌세브란스)과 해외 파트너는 협력 네트워크이며 사업 참여기관은 아님.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①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환자가 실제로 보는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6개 언어 중 러시아어 화면 — healwith.co.kr/ru</a:t>
            </a:r>
          </a:p>
        </p:txBody>
      </p:sp>
      <p:pic>
        <p:nvPicPr>
          <p:cNvPr id="3" name="Picture 2" descr="c_home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첫 화면 — 「한국 최고 종양 전문의의 세컨드 오피니언」</a:t>
            </a:r>
          </a:p>
        </p:txBody>
      </p:sp>
      <p:pic>
        <p:nvPicPr>
          <p:cNvPr id="5" name="Picture 4" descr="c_hospitals_r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79600"/>
            <a:ext cx="4953000" cy="2027634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39624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협진 병원 안내 — 러시아어 병원 정보·위치</a:t>
            </a:r>
          </a:p>
        </p:txBody>
      </p:sp>
      <p:pic>
        <p:nvPicPr>
          <p:cNvPr id="7" name="Picture 6" descr="c_inquiry_ca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292600"/>
            <a:ext cx="4953000" cy="1319621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5689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문의 접수 — AI 상담 / 상담원 연결 / 접수 폼 3가지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600" y="4292600"/>
            <a:ext cx="49530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규모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화면 137개 × 6개 언어 (한·영·러·카자흐·중·일)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서버 기능 215개 · 사용자 권한 5종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환자 개인정보 암호화(AES-256) 저장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모바일 앱(iOS·Android) 빌드 완료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197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러시아어·카자흐어를 「번역해 붙인 것」이 아니라 처음부터 6개 언어로 설계했습니다.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②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원격협진 — 실시간 통역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환자는 현지에서, 의료진은 한국에서</a:t>
            </a:r>
          </a:p>
        </p:txBody>
      </p:sp>
      <p:pic>
        <p:nvPicPr>
          <p:cNvPr id="3" name="Picture 2" descr="m_room_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54200"/>
            <a:ext cx="5080000" cy="2667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546600"/>
            <a:ext cx="5080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2026.07.29 튀르키예 Sayluk 협의 — 우리 플랫폼 상담방, 오른쪽이 한국어↔러시아어 실시간 번역 패널</a:t>
            </a:r>
          </a:p>
        </p:txBody>
      </p:sp>
      <p:pic>
        <p:nvPicPr>
          <p:cNvPr id="5" name="Picture 4" descr="m_room_sub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600" y="1854200"/>
            <a:ext cx="4953000" cy="2713536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6324600" y="4546600"/>
            <a:ext cx="4953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2026.07.20 카자흐 Clinic Navigator 협의 — 화면 하단에 러시아어 실시간 자막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22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15 회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화상상담 실제 진행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2명 이상 입장 · 시험 제외</a:t>
            </a:r>
          </a:p>
        </p:txBody>
      </p:sp>
      <p:sp>
        <p:nvSpPr>
          <p:cNvPr id="9" name="Rectangle 8"/>
          <p:cNvSpPr/>
          <p:nvPr/>
        </p:nvSpPr>
        <p:spPr>
          <a:xfrm>
            <a:off x="4267200" y="4978400"/>
            <a:ext cx="32004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5000" y="5130800"/>
            <a:ext cx="28448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6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제2의료소견 확보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이대서울 · 이대목동 · 면력한방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0" y="4978400"/>
            <a:ext cx="3657600" cy="1168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7800" y="5130800"/>
            <a:ext cx="33020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5 건</a:t>
            </a:r>
          </a:p>
          <a:p>
            <a:pPr>
              <a:spcBef>
                <a:spcPts val="200"/>
              </a:spcBef>
            </a:pPr>
            <a:r>
              <a:rPr sz="1050">
                <a:solidFill>
                  <a:srgbClr val="000000"/>
                </a:solidFill>
                <a:latin typeface="에스코어 드림 5 Medium"/>
              </a:rPr>
              <a:t>환자에게 전달 완료</a:t>
            </a:r>
          </a:p>
          <a:p>
            <a:pPr>
              <a:spcBef>
                <a:spcPts val="100"/>
              </a:spcBef>
            </a:pPr>
            <a:r>
              <a:rPr sz="900">
                <a:solidFill>
                  <a:srgbClr val="767171"/>
                </a:solidFill>
                <a:latin typeface="에스코어 드림 3 Light"/>
              </a:rPr>
              <a:t>러시아어 번역본 포함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6299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의료해외진출법 제16조가 «외국인환자 사전·사후관리»를 명시적으로 허용합니다 — 지금 하는 일이 곧 법에 적힌 그 행위입니다.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③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성과를 스스로 세는 화면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ICT 사업이 자체 ICT로 성과를 계량합니다</a:t>
            </a:r>
          </a:p>
        </p:txBody>
      </p:sp>
      <p:pic>
        <p:nvPicPr>
          <p:cNvPr id="3" name="Picture 2" descr="c_kpi_c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63200" cy="2435352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318000"/>
            <a:ext cx="103632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관리자 화면 — 공식 정량지표 3개의 목표 대비 달성률이 매일 자동 갱신</a:t>
            </a:r>
          </a:p>
        </p:txBody>
      </p:sp>
      <p:pic>
        <p:nvPicPr>
          <p:cNvPr id="5" name="Picture 4" descr="c_fun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22800"/>
            <a:ext cx="4572000" cy="1717358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6400800"/>
            <a:ext cx="457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50">
                <a:solidFill>
                  <a:srgbClr val="7F7F7F"/>
                </a:solidFill>
                <a:latin typeface="에스코어 드림 3 Light"/>
              </a:rPr>
              <a:t>유치 깔때기 — 접수된 문의가 어느 단계에서 멈춰 있는지 그대로 표시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0" y="4622800"/>
            <a:ext cx="5435600" cy="190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자동으로 도는 안전장치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집계 오류가 나면 운영자에게 즉시 알림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상담 완료 시 만족도 설문 자동 발송·소급 보정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종료 처리 안 된 상담이 쌓이면 자동 경보</a:t>
            </a:r>
          </a:p>
          <a:p>
            <a:pPr>
              <a:spcBef>
                <a:spcPts val="7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사무실 IP·테스트 계정 문의는 실적에서 자동 제외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0" y="6350000"/>
            <a:ext cx="5435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000">
                <a:solidFill>
                  <a:srgbClr val="7F7F7F"/>
                </a:solidFill>
                <a:latin typeface="에스코어 드림 3 Light"/>
              </a:rPr>
              <a:t>▶ 화면의 「0」은 숨긴 값이 아니라 시스템이 매일 계산해 그대로 내보이는 값입니다.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주요 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성과지표 달성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테스트·데모 데이터 전부 제외 —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5200"/>
                <a:gridCol w="2641600"/>
                <a:gridCol w="939800"/>
                <a:gridCol w="1016000"/>
                <a:gridCol w="1041400"/>
                <a:gridCol w="3048000"/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구분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성과지표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목표(A)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달성(B)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달성률(B/A)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집계 출처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정량·필수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외국인환자 유치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전환 대시보드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· 사후관리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120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 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12.5%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월간 업무보고 4~7월 누적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정량·부가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만족도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90 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미측정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만족도 설문 (자동)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 사전상담·사후관리 체계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구축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구축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플랫폼 시연·산출물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정성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양·한방 협진 연계 치료모델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협진체계 수립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수립·운영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달성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원격협진·참여병원·UMIT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사전상담은 5월 1 → 6월 4 → 7월 10건으로 늘어 누적 15건(12.5%)입니다. 유치 확정·만족도가 남았습니다.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1976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6건 구성 — 영상 사전상담 1건(카자흐, 08.03) · 서면 소견 전달 5건(키르기스 2 · 카자흐 1 · 플랫폼 도입 이전 상담 소급 등록 2) · 사후관리 0건. 소급 등록분은 화면에 「소급」으로 표기돼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④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해외 파트너 네트워크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회의록 기준 실제 진행 미팅 15회 (2026.06 ~ 07)</a:t>
            </a:r>
          </a:p>
        </p:txBody>
      </p:sp>
      <p:pic>
        <p:nvPicPr>
          <p:cNvPr id="3" name="Picture 2" descr="m_um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2623519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4" name="Picture 3" descr="m_mada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3000" y="1828800"/>
            <a:ext cx="3048000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pic>
        <p:nvPicPr>
          <p:cNvPr id="5" name="Picture 4" descr="m_medicatou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828800"/>
            <a:ext cx="3545257" cy="16764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914400" y="3556000"/>
            <a:ext cx="2667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06.17 UMIT 국제암센터(카자흐)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83000" y="3556000"/>
            <a:ext cx="2921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07.06 Madanes 보험사(러시아)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3556000"/>
            <a:ext cx="3175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06.19 MedicaTour(러시아)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914400" y="3886200"/>
          <a:ext cx="10363200" cy="213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921000"/>
                <a:gridCol w="965200"/>
                <a:gridCol w="57912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성격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협의 결과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06.17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의료기관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협력 → 3자 MOU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06.19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계약 체결 합의 → 정식 계약 체결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07.06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Madanes (러시아)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보험회사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보험 가입자 연계 · 전용 계정·보험 페이지 신설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07.15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대학병원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수술 연계 + 본로이 재활케어 공식 협력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Medtour (카자흐)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방한 병원 실사 후 송출 개시 협의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0706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국가별 카자흐 9 · 러시아 3 · 키르기스 1 · 튀르키예 1 · 국내 1 — 계약 체결분의 수수료는 MedicaTour 15% · MedVoyage 20%로 계약서에 확정돼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추진성과 ⑤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계약 · 협약 체결 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서명·직인 완료본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32000"/>
          <a:ext cx="96520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168400"/>
                <a:gridCol w="1651000"/>
                <a:gridCol w="965200"/>
                <a:gridCol w="3962400"/>
              </a:tblGrid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상대 기관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국가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형태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체결일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MedicaTour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러시아(모스크바)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에이전시 계약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수수료 15% · 치료 완료 환자 한정 · 분쟁은 대한상사중재원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UMIT 국제암센터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3자 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2026.07.20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세컨드 오피니언 3~5영업일 무상 · 귀국 후 현지 경과관찰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Global Healthcare Opulence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인도 (푸네)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2026.04.21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암환자 의뢰 4개 협력 프로그램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MedVoyage Global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영국 (런던)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MOU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2026.05.08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환자 의뢰·케이스 관리·회복 프로그램 / 수수료 20%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이화여자대학교 의료원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국내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의료서비스 협약서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2026.07.16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유치환자 수술 시행 + 본로이 재활케어 연계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15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이 밖에 Medex Travel · Big Tourism · Sayluk · medguide.kz 등 4곳에 계약·MOU 초안을 송부하고 검토 중입니다.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48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이화여자대학교 의료원 협약서는 체결일자 기재본 기준이며 서명 원본 보관 상태는 별도 확인 대상입니다.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기타성과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홍보실적 및 파급효과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2026.07 제작 완료 — 러시아어 · 카자흐어</a:t>
            </a:r>
          </a:p>
        </p:txBody>
      </p:sp>
      <p:pic>
        <p:nvPicPr>
          <p:cNvPr id="3" name="Picture 2" descr="promo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4" name="TextBox 3"/>
          <p:cNvSpPr txBox="1"/>
          <p:nvPr/>
        </p:nvSpPr>
        <p:spPr>
          <a:xfrm>
            <a:off x="914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러시아어</a:t>
            </a:r>
          </a:p>
        </p:txBody>
      </p:sp>
      <p:pic>
        <p:nvPicPr>
          <p:cNvPr id="5" name="Picture 4" descr="promo_kz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00" y="1879600"/>
            <a:ext cx="142875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565400" y="4470400"/>
            <a:ext cx="152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홍보영상 · 카자흐어</a:t>
            </a:r>
          </a:p>
        </p:txBody>
      </p:sp>
      <p:pic>
        <p:nvPicPr>
          <p:cNvPr id="7" name="Picture 6" descr="sns_in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6400" y="1879600"/>
            <a:ext cx="2032000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16400" y="4470400"/>
            <a:ext cx="2032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SNS 게시 소재</a:t>
            </a:r>
          </a:p>
        </p:txBody>
      </p:sp>
      <p:pic>
        <p:nvPicPr>
          <p:cNvPr id="9" name="Picture 8" descr="sns_gui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7800" y="1879600"/>
            <a:ext cx="1693333" cy="2540000"/>
          </a:xfrm>
          <a:prstGeom prst="rect">
            <a:avLst/>
          </a:prstGeom>
          <a:ln w="9525">
            <a:solidFill>
              <a:srgbClr val="DCDDDD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27800" y="4470400"/>
            <a:ext cx="1778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안내 포스터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0" y="1879600"/>
            <a:ext cx="2895600" cy="2667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사회적 파급효과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구두 브로커 관행 대신 수수료·정산을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계약서로 명문화(15% · 20%)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귀국 후 현지 경과관찰 경로 확보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(UMIT MOU) — 유치 후 방치 해소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· 의료해외진출법 16조가 정한 행위</a:t>
            </a:r>
          </a:p>
          <a:p>
            <a:pPr>
              <a:spcBef>
                <a:spcPts val="600"/>
              </a:spcBef>
            </a:pPr>
            <a:r>
              <a:rPr sz="950">
                <a:solidFill>
                  <a:srgbClr val="767171"/>
                </a:solidFill>
                <a:latin typeface="에스코어 드림 4 Regular"/>
              </a:rPr>
              <a:t>  (비대면 협진 허용)에 앞선 구축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927600"/>
            <a:ext cx="565340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0600" y="4927600"/>
            <a:ext cx="565340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온라인 마케팅 위탁계약 2026.07.16 체결 · 개발은 자체 수행해 외주 개발비 0원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6388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사업비는 개발 용역이 아니라 홍보·인프라·현지 확장에 쓰였고, 플랫폼은 사업 종료 후에도 회사에 남습니다.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2. 자체 중간평가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잘된 점 · 부진한 점 · 대책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8542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7600" y="20066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잘된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플랫폼 개발이 계획 일정대로 완료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해외 파트너 15곳 접촉 → 4건 체결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6350000" y="1854200"/>
            <a:ext cx="49276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53200" y="20066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부진한 점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정량지표 3개 모두 0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실환자 송출이 아직 발생하지 않음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30600"/>
            <a:ext cx="5080000" cy="1473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17600" y="3683000"/>
            <a:ext cx="46736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문제점 · 애로사항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파트너가 방한 병원 실사 후 송출을 요구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현지 수요가 튀르키예·중국에 선점됨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0000" y="3530600"/>
            <a:ext cx="4927600" cy="14732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3200" y="3683000"/>
            <a:ext cx="4521200" cy="121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자체 발전방안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8월 현지 검색광고로 직접 유입 병행</a:t>
            </a:r>
          </a:p>
          <a:p>
            <a:pPr>
              <a:spcBef>
                <a:spcPts val="600"/>
              </a:spcBef>
            </a:pPr>
            <a:r>
              <a:rPr sz="1000">
                <a:solidFill>
                  <a:srgbClr val="000000"/>
                </a:solidFill>
                <a:latin typeface="에스코어 드림 4 Regular"/>
              </a:rPr>
              <a:t>· 파트너 방한 병원 투어 8월 중 실시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4610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부진 원인은 기능 미비가 아니라 현지 신뢰 확보에 걸리는 시간이며, 대책은 광고와 실사 투어입니다.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사업진출 SWOT 분석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카자흐스탄 시장 · 2026-08 기준</a:t>
            </a:r>
          </a:p>
        </p:txBody>
      </p:sp>
      <p:pic>
        <p:nvPicPr>
          <p:cNvPr id="3" name="Picture 2" descr="sw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200" y="1600200"/>
            <a:ext cx="6959600" cy="502637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3. 수익모델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수익모델 및 매출계획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현장 협의로 확정된 수수료 조건 반영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54200"/>
            <a:ext cx="5334000" cy="241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수익 모델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① 유치 수수료  치료비의 15~30% (법정 상한 내)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② 플랫폼 이용료  월 50~100만원 / 기관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③ 의료관광 패키지  건당 100~200만원</a:t>
            </a:r>
          </a:p>
          <a:p>
            <a:pPr>
              <a:spcBef>
                <a:spcPts val="1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현장 협의로 확정된 조건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에이전시 지급 수수료 15% (MedicaTour 계약) · 20% (MedVoyage)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지급은 «치료를 실제로 받은 환자»에 한정</a:t>
            </a:r>
          </a:p>
          <a:p>
            <a:pPr>
              <a:spcBef>
                <a:spcPts val="700"/>
              </a:spcBef>
            </a:pPr>
            <a:r>
              <a:rPr sz="1050">
                <a:solidFill>
                  <a:srgbClr val="767171"/>
                </a:solidFill>
                <a:latin typeface="에스코어 드림 4 Regular"/>
              </a:rPr>
              <a:t>· 환자는 병원에 직접 결제 — 본로이 마진 없음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604000" y="1905000"/>
          <a:ext cx="525780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0800"/>
                <a:gridCol w="787400"/>
                <a:gridCol w="787400"/>
                <a:gridCol w="787400"/>
                <a:gridCol w="787400"/>
                <a:gridCol w="787400"/>
              </a:tblGrid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연도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2026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2027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2028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2029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5 Medium"/>
                        </a:rPr>
                        <a:t>2030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목표(건)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12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매출 계획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1.8억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3.5억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0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10억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04000" y="3225800"/>
            <a:ext cx="2188845" cy="29337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80200" y="3225800"/>
            <a:ext cx="2188845" cy="29337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2027년 손익분기점 도달 전제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당초 계획 대비 변경 없음. 보험사 채널(러시아 Madanes)이 신규 유입 경로로 추가됐습니다.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3.  사업비 집행 중간정산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3부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비목별 집행 내역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증빙 원본 보유 — 세금계산서·영수증·계약서 · 2026-08-18 기준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25600"/>
            <a:ext cx="10363200" cy="4140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30400"/>
          <a:ext cx="9652000" cy="345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/>
                <a:gridCol w="635000"/>
                <a:gridCol w="3759200"/>
                <a:gridCol w="1320800"/>
                <a:gridCol w="2413000"/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비목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일자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 내역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집행액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증빙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일반수용비 (홍보비)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07.16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마케팅 위탁 — 홍보영상 2편·SNS 소재 제작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7,700,000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위탁계약서 · 세금계산서 · 비교견적 · 계좌이체 승인공문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(앱 배포)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Apple 개발자 프로그램 1년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117,273 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온라인 매출전표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07.23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Vercel Pro (호스팅)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$22.00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(서버·DB)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07.24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Supabase Pro (데이터베이스) 1개월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$27.50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인보이스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운영비 (영상)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07.28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LiveKit (원격협진 영상)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$6.36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청구서 · 영수증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소모품비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07.30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참여병원 2곳 프린터 토너 (면력한방·신촌면력한방)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확정 대기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거래명세서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합계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보조금 예산 70,000천원 대비 집행률 약 11.2%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7,829,000 원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+ US$55.86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잔액 약 62,171천원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90600" y="58674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과세사업자는 부가가치세를 뺀 공급가액만 집행액으로 잡습니다(집행지침). 해외 결제분(US$55.86)은 카드 청구 원화 확정 후 합산하며, 소모품비 확정액·자부담 현물은 정산 시 조정됩니다.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6172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개발을 자체 수행해 외주비가 없었고, 집행은 홍보·인프라·소모품에 집중되어 있습니다.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3111500"/>
            <a:ext cx="12192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800">
                <a:solidFill>
                  <a:srgbClr val="FFFFFF"/>
                </a:solidFill>
                <a:latin typeface="에스코어 드림 8 Heavy"/>
              </a:rPr>
              <a:t>4.  원격협진 솔루션 개발 · 고도화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4부 · 2. 개발 추진현황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항목별 추진현황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SW 개발 생명주기 단계별 — 계획일정 대비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2006600"/>
          <a:ext cx="9652000" cy="289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4318000"/>
                <a:gridCol w="1143000"/>
                <a:gridCol w="2032000"/>
                <a:gridCol w="1473200"/>
              </a:tblGrid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단계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업무내용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계획일정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추진일정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지연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분석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현황분석 · GAP분석 · 요구사항 도출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인터페이스 · 데이터 · 프로그램 · 시험 설계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4~5월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5월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개발 및 구축 (6개 언어·원격협진·AI 상담·백오피스)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6~7월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시험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통합·시스템 시험 (자동검사 상시 가동)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완료 · 상시 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운영환경 준비 · 설치 및 인도 · 운영 및 통제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7~11월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7월 개시 · 운영 중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없음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개발 단계는 전 항목 계획대로 완료. 현재는 「운영 및 통제」 단계입니다.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0600" y="6299200"/>
            <a:ext cx="10363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850">
                <a:solidFill>
                  <a:srgbClr val="7F7F7F"/>
                </a:solidFill>
                <a:latin typeface="에스코어 드림 3 Light"/>
              </a:rPr>
              <a:t>※ 미진사유 발생 항목 없음. 참여인력·투입 MD 내역은 보고서 본문에 별도 첨부.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4. 향후 계획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정책 방향과 우리 서비스의 위치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현행법 안에서 운영 중이며, 정책은 같은 방향으로 넓어지고 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14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지금  운영 중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의료해외진출법 제16조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외국인환자 사전ㆍ사후관리 (상담·교육)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5800" y="1930400"/>
            <a:ext cx="3175000" cy="12192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22800" y="2082800"/>
            <a:ext cx="29210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2026. 7. 30  발주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KHIDI 「비대면진료 기반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사전·사후관리 표준 운영체계」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930400"/>
            <a:ext cx="3200400" cy="1219200"/>
          </a:xfrm>
          <a:prstGeom prst="roundRect">
            <a:avLst>
              <a:gd name="adj" fmla="val 12000"/>
            </a:avLst>
          </a:prstGeom>
          <a:solidFill>
            <a:srgbClr val="C5E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04200" y="2082800"/>
            <a:ext cx="2946400" cy="965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2027. 5. 27  범위 확대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제16조의2 신설 — 비대면 진료</a:t>
            </a:r>
          </a:p>
          <a:p>
            <a:pPr algn="ctr">
              <a:spcBef>
                <a:spcPts val="300"/>
              </a:spcBef>
            </a:pPr>
            <a:r>
              <a:rPr sz="900">
                <a:solidFill>
                  <a:srgbClr val="767171"/>
                </a:solidFill>
                <a:latin typeface="에스코어 드림 4 Regular"/>
              </a:rPr>
              <a:t>진단ㆍ처방까지 · 의원급·병원급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164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797800" y="2451100"/>
            <a:ext cx="177800" cy="177800"/>
          </a:xfrm>
          <a:prstGeom prst="right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03600"/>
            <a:ext cx="10363200" cy="215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세 가지가 같은 방향을 가리킵니다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의료해외진출법 제16조는 유치의료기관 소속 의료진이 국외 의료인에게 «의료지식ㆍ기술 지원»과 «환자 건강ㆍ질병 상담ㆍ교육»을 하도록 이미 허용합니다 — 조문 제목이 「외국인환자 사전ㆍ사후관리」로 우리 사업명과 같습니다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진흥원이 2026-07-30 발주한 표준 운영체계의 이름이 「사전·사후관리」 — 우리 성과지표와 같은 영역입니다. 국가 표준이 만들어지는 자리에 이미 같은 구조로 서 있습니다</a:t>
            </a:r>
          </a:p>
          <a:p>
            <a:pPr>
              <a:spcBef>
                <a:spcPts val="800"/>
              </a:spcBef>
            </a:pPr>
            <a:r>
              <a:rPr sz="1000">
                <a:solidFill>
                  <a:srgbClr val="767171"/>
                </a:solidFill>
                <a:latin typeface="에스코어 드림 4 Regular"/>
              </a:rPr>
              <a:t>· 「누가·언제·어떤 방식으로 상담했는지」가 기록으로 남는 구조라, 표준 운영체계가 확정되면 그대로 맞춰 넣을 수 있습니다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912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제도가 넓어질 때 새로 만들 것이 아니라, 이미 돌아가는 것을 그대로 확산하면 되는 위치에 있습니다.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2부 · 4 / 4부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개선 및 향후 추진계획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중간보고 이후 사업종료(11월)까지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76400"/>
            <a:ext cx="10363200" cy="3810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20800" y="2057400"/>
          <a:ext cx="95504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"/>
                <a:gridCol w="5207000"/>
                <a:gridCol w="3530600"/>
              </a:tblGrid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시기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핵심 과제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5 Medium"/>
                        </a:rPr>
                        <a:t>목표 / 산출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8월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현지 검색광고 개시(카자흐·러시아어) + 파트너 방한 병원 실사 투어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첫 유치 확정 발생 · 사전상담 실건수 축적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9월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 → 유치 → 수술(협진 대학병원) → 한방 재활 연계 본격 가동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건수 누적 · 상담 완료 처리 정착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10월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케이던스 실환자 적용 + 만족도 설문 수집 / UMIT 현지 경과관찰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사후관리 건수 · 만족도 점수 측정 개시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11월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성과평가 · 최종보고 · 2027년 확장 계획 확정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00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최종 성과지표 확정 · 차년도 사업화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잔여 보조금(약 6,288만원)은 현지 광고·파트너 실사 초청·인건비·국외여비에 집중 투입합니다.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457200"/>
            <a:ext cx="889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900">
                <a:solidFill>
                  <a:srgbClr val="7F7F7F"/>
                </a:solidFill>
                <a:latin typeface="에스코어 드림 3 Light"/>
              </a:rPr>
              <a:t>질의응답 대비</a:t>
            </a:r>
          </a:p>
          <a:p>
            <a:pPr>
              <a:spcBef>
                <a:spcPts val="200"/>
              </a:spcBef>
            </a:pPr>
            <a:r>
              <a:rPr sz="2400">
                <a:solidFill>
                  <a:srgbClr val="000000"/>
                </a:solidFill>
                <a:latin typeface="에스코어 드림 4 Regular"/>
              </a:rPr>
              <a:t>예상 질문과 답변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미리 준비한 답만 적었습니다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651000"/>
            <a:ext cx="10363200" cy="38862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70000" y="1981200"/>
          <a:ext cx="95504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2400"/>
                <a:gridCol w="6858000"/>
              </a:tblGrid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예상 질문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5 Medium"/>
                        </a:rPr>
                        <a:t>답변</a:t>
                      </a:r>
                    </a:p>
                  </a:txBody>
                  <a:tcPr marL="101600" marR="101600" marT="25400" marB="25400" anchor="ctr"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카자흐스탄 증가율이 상위 15개국 중 꼴찌인데,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왜 그 시장에 들어갔습니까?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맞습니다. 1.5만 명·순위 13위·증가율 +4.9%로 최저입니다. 다만 같은 통계가 카자흐를 「내과·검진 중심」이라 적었고, 진흥원은 「치료형 고액 소비 국가」로 분류했습니다. 즉 중증(암)은 아직 연결 통로가 없어서 안 오는 것일 수 있습니다. 저희는 건수가 아니라 성격으로 승부하는 시장으로 보고 그 통로를 만드는 중입니다.</a:t>
                      </a:r>
                    </a:p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※ 다만 「수요 자체가 작다」는 반대 해석도 가능하며, 어느 쪽인지는 저희 상담 데이터로만 가려집니다.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유치 실적이 0인데 사업이 되고 있는 겁니까?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사전상담·사후관리가 15건(목표 120건 대비 12.5%)이고 유치 확정·만족도는 0입니다. 숨기지 않겠습니다. 다만 집계 인프라는 완성돼 매일 자동으로 돌고 있고, 해외 파트너 15곳과 접촉해 4건을 체결했습니다. 남은 것은 실환자 송출이며 8월 광고와 파트너 방한 실사로 밀어붙이고 있습니다.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ICT라는데 다른 유치업체와 뭐가 다릅니까?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950">
                          <a:solidFill>
                            <a:srgbClr val="000000"/>
                          </a:solidFill>
                          <a:latin typeface="에스코어 드림 4 Regular"/>
                        </a:rPr>
                        <a:t>성과를 저희가 세지 않고 시스템이 셉니다. 오늘 화면의 「0」도 저희가 쓴 숫자가 아니라 매일 자동 집계된 값입니다. 화상상담 15회·제2의료소견 6건이 그 기록이며, 테스트 데이터는 자동 제외됩니다.</a:t>
                      </a:r>
                    </a:p>
                  </a:txBody>
                  <a:tcPr marL="101600" marR="1016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740400"/>
            <a:ext cx="10363200" cy="482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4 Regular"/>
              </a:rPr>
              <a:t>▶ 불리한 통계는 먼저 꺼내고, 그다음 우리 판을 설명합니다.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51000" y="2222500"/>
            <a:ext cx="88900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2400">
                <a:solidFill>
                  <a:srgbClr val="000000"/>
                </a:solidFill>
                <a:latin typeface="에스코어 드림 8 Heavy"/>
              </a:rPr>
              <a:t>정리하면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842000" y="2832100"/>
            <a:ext cx="508000" cy="101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51000" y="3048000"/>
            <a:ext cx="8890000" cy="20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600"/>
              </a:spcBef>
            </a:pPr>
            <a:r>
              <a:rPr sz="1200">
                <a:solidFill>
                  <a:srgbClr val="000000"/>
                </a:solidFill>
                <a:latin typeface="에스코어 드림 7 ExtraBold"/>
              </a:rPr>
              <a:t>플랫폼과 파트너 계약은 완성됐고, 남은 것은 실환자 송출입니다.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/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개발은 계획대로 끝났고 해외 파트너 15곳과 접촉해 4건을 체결했습니다.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사전상담이 누적 15건(12.5%)으로 늘고 있고,</a:t>
            </a:r>
          </a:p>
          <a:p>
            <a:pPr algn="ctr">
              <a:spcBef>
                <a:spcPts val="0"/>
              </a:spcBef>
            </a:pPr>
            <a:r>
              <a:rPr sz="1200">
                <a:solidFill>
                  <a:srgbClr val="767171"/>
                </a:solidFill>
                <a:latin typeface="에스코어 드림 4 Regular"/>
              </a:rPr>
              <a:t>8월 광고 집행과 파트너 방한 실사로 유치 전환까지 밀어붙입니다.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solidFill>
            <a:srgbClr val="D9F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83760" y="5080000"/>
            <a:ext cx="2824479" cy="3048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spcBef>
                <a:spcPts val="0"/>
              </a:spcBef>
            </a:pPr>
            <a:r>
              <a:rPr sz="1100">
                <a:solidFill>
                  <a:srgbClr val="000000"/>
                </a:solidFill>
                <a:latin typeface="에스코어 드림 7 ExtraBold"/>
              </a:rPr>
              <a:t>구축 단계 종료 · 송출 개시 단계 진입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